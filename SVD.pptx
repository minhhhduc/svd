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handoutMasterIdLst>
    <p:handoutMasterId r:id="rId39"/>
  </p:handoutMasterIdLst>
  <p:sldIdLst>
    <p:sldId id="256" r:id="rId2"/>
    <p:sldId id="257" r:id="rId3"/>
    <p:sldId id="258" r:id="rId4"/>
    <p:sldId id="259" r:id="rId5"/>
    <p:sldId id="260" r:id="rId6"/>
    <p:sldId id="261" r:id="rId7"/>
    <p:sldId id="291" r:id="rId8"/>
    <p:sldId id="262" r:id="rId9"/>
    <p:sldId id="263" r:id="rId10"/>
    <p:sldId id="264" r:id="rId11"/>
    <p:sldId id="265" r:id="rId12"/>
    <p:sldId id="266" r:id="rId13"/>
    <p:sldId id="268" r:id="rId14"/>
    <p:sldId id="269" r:id="rId15"/>
    <p:sldId id="270" r:id="rId16"/>
    <p:sldId id="271" r:id="rId17"/>
    <p:sldId id="272" r:id="rId18"/>
    <p:sldId id="278" r:id="rId19"/>
    <p:sldId id="273" r:id="rId20"/>
    <p:sldId id="274" r:id="rId21"/>
    <p:sldId id="275" r:id="rId22"/>
    <p:sldId id="277" r:id="rId23"/>
    <p:sldId id="279" r:id="rId24"/>
    <p:sldId id="280" r:id="rId25"/>
    <p:sldId id="281" r:id="rId26"/>
    <p:sldId id="282" r:id="rId27"/>
    <p:sldId id="283" r:id="rId28"/>
    <p:sldId id="284" r:id="rId29"/>
    <p:sldId id="285" r:id="rId30"/>
    <p:sldId id="286" r:id="rId31"/>
    <p:sldId id="287" r:id="rId32"/>
    <p:sldId id="292" r:id="rId33"/>
    <p:sldId id="293" r:id="rId34"/>
    <p:sldId id="294" r:id="rId35"/>
    <p:sldId id="295" r:id="rId36"/>
    <p:sldId id="290" r:id="rId37"/>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94660"/>
  </p:normalViewPr>
  <p:slideViewPr>
    <p:cSldViewPr snapToGrid="0">
      <p:cViewPr varScale="1">
        <p:scale>
          <a:sx n="101" d="100"/>
          <a:sy n="101" d="100"/>
        </p:scale>
        <p:origin x="144" y="582"/>
      </p:cViewPr>
      <p:guideLst/>
    </p:cSldViewPr>
  </p:slideViewPr>
  <p:notesTextViewPr>
    <p:cViewPr>
      <p:scale>
        <a:sx n="1" d="1"/>
        <a:sy n="1" d="1"/>
      </p:scale>
      <p:origin x="0" y="0"/>
    </p:cViewPr>
  </p:notesTextViewPr>
  <p:notesViewPr>
    <p:cSldViewPr snapToGrid="0">
      <p:cViewPr varScale="1">
        <p:scale>
          <a:sx n="92" d="100"/>
          <a:sy n="92" d="100"/>
        </p:scale>
        <p:origin x="3648"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1E9E74A-808B-B7DE-0D9E-AF4F2ED5E80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a:extLst>
              <a:ext uri="{FF2B5EF4-FFF2-40B4-BE49-F238E27FC236}">
                <a16:creationId xmlns:a16="http://schemas.microsoft.com/office/drawing/2014/main" id="{3B8A18D8-4702-B933-4C21-95C03B08635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E11D6AD-113B-4DE3-BAB3-D90A29B7CBAF}" type="datetimeFigureOut">
              <a:rPr lang="vi-VN" smtClean="0"/>
              <a:t>09/12/2025</a:t>
            </a:fld>
            <a:endParaRPr lang="vi-VN"/>
          </a:p>
        </p:txBody>
      </p:sp>
      <p:sp>
        <p:nvSpPr>
          <p:cNvPr id="4" name="Footer Placeholder 3">
            <a:extLst>
              <a:ext uri="{FF2B5EF4-FFF2-40B4-BE49-F238E27FC236}">
                <a16:creationId xmlns:a16="http://schemas.microsoft.com/office/drawing/2014/main" id="{5F6E5FC1-5BE6-4FC1-A22F-B5EB05BE770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5" name="Slide Number Placeholder 4">
            <a:extLst>
              <a:ext uri="{FF2B5EF4-FFF2-40B4-BE49-F238E27FC236}">
                <a16:creationId xmlns:a16="http://schemas.microsoft.com/office/drawing/2014/main" id="{0D007F62-9BF1-9C20-F95D-6C8DCFCCB71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8D3255-9149-4216-8C41-5532E51BA6BB}" type="slidenum">
              <a:rPr lang="vi-VN" smtClean="0"/>
              <a:t>‹#›</a:t>
            </a:fld>
            <a:endParaRPr lang="vi-VN"/>
          </a:p>
        </p:txBody>
      </p:sp>
    </p:spTree>
    <p:extLst>
      <p:ext uri="{BB962C8B-B14F-4D97-AF65-F5344CB8AC3E}">
        <p14:creationId xmlns:p14="http://schemas.microsoft.com/office/powerpoint/2010/main" val="25553925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2F1380-8CAC-47AA-A58A-3F544302164F}" type="datetimeFigureOut">
              <a:rPr lang="vi-VN" smtClean="0"/>
              <a:t>09/12/2025</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1CB9BD-60F9-4BE3-9E66-FFBE2C89660A}" type="slidenum">
              <a:rPr lang="vi-VN" smtClean="0"/>
              <a:t>‹#›</a:t>
            </a:fld>
            <a:endParaRPr lang="vi-VN"/>
          </a:p>
        </p:txBody>
      </p:sp>
    </p:spTree>
    <p:extLst>
      <p:ext uri="{BB962C8B-B14F-4D97-AF65-F5344CB8AC3E}">
        <p14:creationId xmlns:p14="http://schemas.microsoft.com/office/powerpoint/2010/main" val="2713257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041CB9BD-60F9-4BE3-9E66-FFBE2C89660A}" type="slidenum">
              <a:rPr lang="vi-VN" smtClean="0"/>
              <a:t>30</a:t>
            </a:fld>
            <a:endParaRPr lang="vi-VN"/>
          </a:p>
        </p:txBody>
      </p:sp>
    </p:spTree>
    <p:extLst>
      <p:ext uri="{BB962C8B-B14F-4D97-AF65-F5344CB8AC3E}">
        <p14:creationId xmlns:p14="http://schemas.microsoft.com/office/powerpoint/2010/main" val="15245844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41C43-FC73-B63F-CC6F-515DB60278E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2E552359-CEA1-7DA2-8834-C9162C563E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02F47C9D-E88A-59AA-6A70-BE7402663BAA}"/>
              </a:ext>
            </a:extLst>
          </p:cNvPr>
          <p:cNvSpPr>
            <a:spLocks noGrp="1"/>
          </p:cNvSpPr>
          <p:nvPr>
            <p:ph type="dt" sz="half" idx="10"/>
          </p:nvPr>
        </p:nvSpPr>
        <p:spPr/>
        <p:txBody>
          <a:bodyPr/>
          <a:lstStyle/>
          <a:p>
            <a:fld id="{4CB77819-984A-4BD9-A3DD-7B9866AE9C0D}" type="datetime1">
              <a:rPr lang="vi-VN" smtClean="0"/>
              <a:t>09/12/2025</a:t>
            </a:fld>
            <a:endParaRPr lang="vi-VN"/>
          </a:p>
        </p:txBody>
      </p:sp>
      <p:sp>
        <p:nvSpPr>
          <p:cNvPr id="5" name="Footer Placeholder 4">
            <a:extLst>
              <a:ext uri="{FF2B5EF4-FFF2-40B4-BE49-F238E27FC236}">
                <a16:creationId xmlns:a16="http://schemas.microsoft.com/office/drawing/2014/main" id="{92E3DB07-C3D6-6A9C-CA2C-9C3F49B7E061}"/>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3C24CAE6-4231-3E2E-58AB-19D3F1EA8633}"/>
              </a:ext>
            </a:extLst>
          </p:cNvPr>
          <p:cNvSpPr>
            <a:spLocks noGrp="1"/>
          </p:cNvSpPr>
          <p:nvPr>
            <p:ph type="sldNum" sz="quarter" idx="12"/>
          </p:nvPr>
        </p:nvSpPr>
        <p:spPr/>
        <p:txBody>
          <a:bodyPr/>
          <a:lstStyle/>
          <a:p>
            <a:fld id="{CBF310FD-C090-4C3A-AF23-E809F51E0484}" type="slidenum">
              <a:rPr lang="vi-VN" smtClean="0"/>
              <a:t>‹#›</a:t>
            </a:fld>
            <a:endParaRPr lang="vi-VN"/>
          </a:p>
        </p:txBody>
      </p:sp>
    </p:spTree>
    <p:extLst>
      <p:ext uri="{BB962C8B-B14F-4D97-AF65-F5344CB8AC3E}">
        <p14:creationId xmlns:p14="http://schemas.microsoft.com/office/powerpoint/2010/main" val="12632760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BA24C-A7DC-A42B-557B-9E7666E6EB72}"/>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84DF6583-1416-B243-317B-3632EC3BBC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F3FDAA1D-4F6D-6C3C-C5F0-B03386B20280}"/>
              </a:ext>
            </a:extLst>
          </p:cNvPr>
          <p:cNvSpPr>
            <a:spLocks noGrp="1"/>
          </p:cNvSpPr>
          <p:nvPr>
            <p:ph type="dt" sz="half" idx="10"/>
          </p:nvPr>
        </p:nvSpPr>
        <p:spPr/>
        <p:txBody>
          <a:bodyPr/>
          <a:lstStyle/>
          <a:p>
            <a:fld id="{F15B1F77-1434-44FD-AF5C-8508050EF611}" type="datetime1">
              <a:rPr lang="vi-VN" smtClean="0"/>
              <a:t>09/12/2025</a:t>
            </a:fld>
            <a:endParaRPr lang="vi-VN"/>
          </a:p>
        </p:txBody>
      </p:sp>
      <p:sp>
        <p:nvSpPr>
          <p:cNvPr id="5" name="Footer Placeholder 4">
            <a:extLst>
              <a:ext uri="{FF2B5EF4-FFF2-40B4-BE49-F238E27FC236}">
                <a16:creationId xmlns:a16="http://schemas.microsoft.com/office/drawing/2014/main" id="{D2FD7530-2CC3-8AF7-51E5-2977A5DBA5EB}"/>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A153D2FE-D49D-EDFC-EB5B-0732ABFBB194}"/>
              </a:ext>
            </a:extLst>
          </p:cNvPr>
          <p:cNvSpPr>
            <a:spLocks noGrp="1"/>
          </p:cNvSpPr>
          <p:nvPr>
            <p:ph type="sldNum" sz="quarter" idx="12"/>
          </p:nvPr>
        </p:nvSpPr>
        <p:spPr/>
        <p:txBody>
          <a:bodyPr/>
          <a:lstStyle/>
          <a:p>
            <a:fld id="{CBF310FD-C090-4C3A-AF23-E809F51E0484}" type="slidenum">
              <a:rPr lang="vi-VN" smtClean="0"/>
              <a:t>‹#›</a:t>
            </a:fld>
            <a:endParaRPr lang="vi-VN"/>
          </a:p>
        </p:txBody>
      </p:sp>
    </p:spTree>
    <p:extLst>
      <p:ext uri="{BB962C8B-B14F-4D97-AF65-F5344CB8AC3E}">
        <p14:creationId xmlns:p14="http://schemas.microsoft.com/office/powerpoint/2010/main" val="3590334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92187-7754-7A1B-3278-D73DC39CA28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A5CB9ADE-3743-5815-8FFF-679F0F1C7B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B8718A-D14F-3A4C-F28C-CBB2045858C8}"/>
              </a:ext>
            </a:extLst>
          </p:cNvPr>
          <p:cNvSpPr>
            <a:spLocks noGrp="1"/>
          </p:cNvSpPr>
          <p:nvPr>
            <p:ph type="dt" sz="half" idx="10"/>
          </p:nvPr>
        </p:nvSpPr>
        <p:spPr/>
        <p:txBody>
          <a:bodyPr/>
          <a:lstStyle/>
          <a:p>
            <a:fld id="{23BC81B5-0D8C-4ACA-AE71-2BAE77A9B2DB}" type="datetime1">
              <a:rPr lang="vi-VN" smtClean="0"/>
              <a:t>09/12/2025</a:t>
            </a:fld>
            <a:endParaRPr lang="vi-VN"/>
          </a:p>
        </p:txBody>
      </p:sp>
      <p:sp>
        <p:nvSpPr>
          <p:cNvPr id="5" name="Footer Placeholder 4">
            <a:extLst>
              <a:ext uri="{FF2B5EF4-FFF2-40B4-BE49-F238E27FC236}">
                <a16:creationId xmlns:a16="http://schemas.microsoft.com/office/drawing/2014/main" id="{DB1C8B75-1AFA-097A-4A6D-C973A0376D61}"/>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12FAA676-C48C-1FD8-44D9-35B9E2F6B9AC}"/>
              </a:ext>
            </a:extLst>
          </p:cNvPr>
          <p:cNvSpPr>
            <a:spLocks noGrp="1"/>
          </p:cNvSpPr>
          <p:nvPr>
            <p:ph type="sldNum" sz="quarter" idx="12"/>
          </p:nvPr>
        </p:nvSpPr>
        <p:spPr/>
        <p:txBody>
          <a:bodyPr/>
          <a:lstStyle/>
          <a:p>
            <a:fld id="{CBF310FD-C090-4C3A-AF23-E809F51E0484}" type="slidenum">
              <a:rPr lang="vi-VN" smtClean="0"/>
              <a:t>‹#›</a:t>
            </a:fld>
            <a:endParaRPr lang="vi-VN"/>
          </a:p>
        </p:txBody>
      </p:sp>
    </p:spTree>
    <p:extLst>
      <p:ext uri="{BB962C8B-B14F-4D97-AF65-F5344CB8AC3E}">
        <p14:creationId xmlns:p14="http://schemas.microsoft.com/office/powerpoint/2010/main" val="22123558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EF07BB-66A5-7E49-2DCD-5BCA3FAB10F2}"/>
              </a:ext>
            </a:extLst>
          </p:cNvPr>
          <p:cNvSpPr>
            <a:spLocks noGrp="1"/>
          </p:cNvSpPr>
          <p:nvPr>
            <p:ph type="body" idx="1"/>
          </p:nvPr>
        </p:nvSpPr>
        <p:spPr>
          <a:xfrm>
            <a:off x="839788" y="1169774"/>
            <a:ext cx="5157787" cy="609599"/>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AF78AAE-F096-A909-BFEE-DE428994249D}"/>
              </a:ext>
            </a:extLst>
          </p:cNvPr>
          <p:cNvSpPr>
            <a:spLocks noGrp="1"/>
          </p:cNvSpPr>
          <p:nvPr>
            <p:ph sz="half" idx="2"/>
          </p:nvPr>
        </p:nvSpPr>
        <p:spPr>
          <a:xfrm>
            <a:off x="839788" y="1779373"/>
            <a:ext cx="5157787" cy="44102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05BF534D-D9B2-D8E6-9032-79D7F2649901}"/>
              </a:ext>
            </a:extLst>
          </p:cNvPr>
          <p:cNvSpPr>
            <a:spLocks noGrp="1"/>
          </p:cNvSpPr>
          <p:nvPr>
            <p:ph type="body" sz="quarter" idx="3"/>
          </p:nvPr>
        </p:nvSpPr>
        <p:spPr>
          <a:xfrm>
            <a:off x="6172200" y="1169774"/>
            <a:ext cx="5183188" cy="609599"/>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C71277C-F728-4B72-027B-22A3047C5056}"/>
              </a:ext>
            </a:extLst>
          </p:cNvPr>
          <p:cNvSpPr>
            <a:spLocks noGrp="1"/>
          </p:cNvSpPr>
          <p:nvPr>
            <p:ph sz="quarter" idx="4"/>
          </p:nvPr>
        </p:nvSpPr>
        <p:spPr>
          <a:xfrm>
            <a:off x="6172200" y="1779373"/>
            <a:ext cx="5183188" cy="44102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B1579984-CC70-B646-DA87-B7BE4A91C73E}"/>
              </a:ext>
            </a:extLst>
          </p:cNvPr>
          <p:cNvSpPr>
            <a:spLocks noGrp="1"/>
          </p:cNvSpPr>
          <p:nvPr>
            <p:ph type="dt" sz="half" idx="10"/>
          </p:nvPr>
        </p:nvSpPr>
        <p:spPr/>
        <p:txBody>
          <a:bodyPr/>
          <a:lstStyle/>
          <a:p>
            <a:fld id="{ABCB5DFF-3DDF-4061-8D60-1AAEEB5D6B41}" type="datetime1">
              <a:rPr lang="vi-VN" smtClean="0"/>
              <a:t>09/12/2025</a:t>
            </a:fld>
            <a:endParaRPr lang="vi-VN"/>
          </a:p>
        </p:txBody>
      </p:sp>
      <p:sp>
        <p:nvSpPr>
          <p:cNvPr id="8" name="Footer Placeholder 7">
            <a:extLst>
              <a:ext uri="{FF2B5EF4-FFF2-40B4-BE49-F238E27FC236}">
                <a16:creationId xmlns:a16="http://schemas.microsoft.com/office/drawing/2014/main" id="{5C4AD2FF-547F-2040-D618-3E47706CF5AF}"/>
              </a:ext>
            </a:extLst>
          </p:cNvPr>
          <p:cNvSpPr>
            <a:spLocks noGrp="1"/>
          </p:cNvSpPr>
          <p:nvPr>
            <p:ph type="ftr" sz="quarter" idx="11"/>
          </p:nvPr>
        </p:nvSpPr>
        <p:spPr/>
        <p:txBody>
          <a:bodyPr/>
          <a:lstStyle/>
          <a:p>
            <a:endParaRPr lang="vi-VN"/>
          </a:p>
        </p:txBody>
      </p:sp>
      <p:sp>
        <p:nvSpPr>
          <p:cNvPr id="9" name="Slide Number Placeholder 8">
            <a:extLst>
              <a:ext uri="{FF2B5EF4-FFF2-40B4-BE49-F238E27FC236}">
                <a16:creationId xmlns:a16="http://schemas.microsoft.com/office/drawing/2014/main" id="{3B074BC9-81CD-B807-61CF-950878749183}"/>
              </a:ext>
            </a:extLst>
          </p:cNvPr>
          <p:cNvSpPr>
            <a:spLocks noGrp="1"/>
          </p:cNvSpPr>
          <p:nvPr>
            <p:ph type="sldNum" sz="quarter" idx="12"/>
          </p:nvPr>
        </p:nvSpPr>
        <p:spPr/>
        <p:txBody>
          <a:bodyPr/>
          <a:lstStyle/>
          <a:p>
            <a:fld id="{CBF310FD-C090-4C3A-AF23-E809F51E0484}" type="slidenum">
              <a:rPr lang="vi-VN" smtClean="0"/>
              <a:t>‹#›</a:t>
            </a:fld>
            <a:endParaRPr lang="vi-VN"/>
          </a:p>
        </p:txBody>
      </p:sp>
      <p:sp>
        <p:nvSpPr>
          <p:cNvPr id="10" name="Title 1">
            <a:extLst>
              <a:ext uri="{FF2B5EF4-FFF2-40B4-BE49-F238E27FC236}">
                <a16:creationId xmlns:a16="http://schemas.microsoft.com/office/drawing/2014/main" id="{0050BA2E-2929-F1CB-A337-502BB908707F}"/>
              </a:ext>
            </a:extLst>
          </p:cNvPr>
          <p:cNvSpPr>
            <a:spLocks noGrp="1"/>
          </p:cNvSpPr>
          <p:nvPr>
            <p:ph type="title"/>
          </p:nvPr>
        </p:nvSpPr>
        <p:spPr>
          <a:xfrm>
            <a:off x="838200" y="365126"/>
            <a:ext cx="10515600" cy="804648"/>
          </a:xfrm>
        </p:spPr>
        <p:txBody>
          <a:bodyPr/>
          <a:lstStyle/>
          <a:p>
            <a:r>
              <a:rPr lang="en-US"/>
              <a:t>Click to edit Master title style</a:t>
            </a:r>
            <a:endParaRPr lang="vi-VN"/>
          </a:p>
        </p:txBody>
      </p:sp>
    </p:spTree>
    <p:extLst>
      <p:ext uri="{BB962C8B-B14F-4D97-AF65-F5344CB8AC3E}">
        <p14:creationId xmlns:p14="http://schemas.microsoft.com/office/powerpoint/2010/main" val="30079244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8C243-E64D-302F-66CC-2D8FB41FF8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544F29C1-CA07-58FE-1D5A-1B981A5666D1}"/>
              </a:ext>
            </a:extLst>
          </p:cNvPr>
          <p:cNvSpPr>
            <a:spLocks noGrp="1"/>
          </p:cNvSpPr>
          <p:nvPr>
            <p:ph idx="1"/>
          </p:nvPr>
        </p:nvSpPr>
        <p:spPr>
          <a:xfrm>
            <a:off x="4772025" y="987425"/>
            <a:ext cx="658336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74F81206-4007-6FF4-908D-95BA7259E6FA}"/>
              </a:ext>
            </a:extLst>
          </p:cNvPr>
          <p:cNvSpPr>
            <a:spLocks noGrp="1"/>
          </p:cNvSpPr>
          <p:nvPr>
            <p:ph type="body" sz="half" idx="2"/>
          </p:nvPr>
        </p:nvSpPr>
        <p:spPr>
          <a:xfrm>
            <a:off x="839788" y="2057400"/>
            <a:ext cx="3932237" cy="3811588"/>
          </a:xfrm>
        </p:spPr>
        <p:txBody>
          <a:bodyPr/>
          <a:lstStyle>
            <a:lvl1pPr marL="0" indent="0">
              <a:lnSpc>
                <a:spcPct val="100000"/>
              </a:lnSpc>
              <a:buNone/>
              <a:defRPr sz="2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E31431-B584-4A52-173C-10B39A2D5B38}"/>
              </a:ext>
            </a:extLst>
          </p:cNvPr>
          <p:cNvSpPr>
            <a:spLocks noGrp="1"/>
          </p:cNvSpPr>
          <p:nvPr>
            <p:ph type="dt" sz="half" idx="10"/>
          </p:nvPr>
        </p:nvSpPr>
        <p:spPr/>
        <p:txBody>
          <a:bodyPr/>
          <a:lstStyle/>
          <a:p>
            <a:fld id="{D0D1F24D-7D19-44EC-94A8-B74FAAC962A0}" type="datetime1">
              <a:rPr lang="vi-VN" smtClean="0"/>
              <a:t>09/12/2025</a:t>
            </a:fld>
            <a:endParaRPr lang="vi-VN"/>
          </a:p>
        </p:txBody>
      </p:sp>
      <p:sp>
        <p:nvSpPr>
          <p:cNvPr id="6" name="Footer Placeholder 5">
            <a:extLst>
              <a:ext uri="{FF2B5EF4-FFF2-40B4-BE49-F238E27FC236}">
                <a16:creationId xmlns:a16="http://schemas.microsoft.com/office/drawing/2014/main" id="{4239B44A-539D-0B7E-5183-A5F5C398F64F}"/>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7BDBBEF2-B74D-2F64-26B3-E98A2F8028D0}"/>
              </a:ext>
            </a:extLst>
          </p:cNvPr>
          <p:cNvSpPr>
            <a:spLocks noGrp="1"/>
          </p:cNvSpPr>
          <p:nvPr>
            <p:ph type="sldNum" sz="quarter" idx="12"/>
          </p:nvPr>
        </p:nvSpPr>
        <p:spPr/>
        <p:txBody>
          <a:bodyPr/>
          <a:lstStyle/>
          <a:p>
            <a:fld id="{CBF310FD-C090-4C3A-AF23-E809F51E0484}" type="slidenum">
              <a:rPr lang="vi-VN" smtClean="0"/>
              <a:t>‹#›</a:t>
            </a:fld>
            <a:endParaRPr lang="vi-VN"/>
          </a:p>
        </p:txBody>
      </p:sp>
    </p:spTree>
    <p:extLst>
      <p:ext uri="{BB962C8B-B14F-4D97-AF65-F5344CB8AC3E}">
        <p14:creationId xmlns:p14="http://schemas.microsoft.com/office/powerpoint/2010/main" val="1273526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AF6AC-755E-540B-7140-00C08EC21D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78A9C48D-FCED-F47C-DAD5-E59E8E8C76CA}"/>
              </a:ext>
            </a:extLst>
          </p:cNvPr>
          <p:cNvSpPr>
            <a:spLocks noGrp="1"/>
          </p:cNvSpPr>
          <p:nvPr>
            <p:ph type="pic" idx="1"/>
          </p:nvPr>
        </p:nvSpPr>
        <p:spPr>
          <a:xfrm>
            <a:off x="4772025" y="987425"/>
            <a:ext cx="6583363"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400BE52F-3994-1DE4-EE3F-E1737695B94A}"/>
              </a:ext>
            </a:extLst>
          </p:cNvPr>
          <p:cNvSpPr>
            <a:spLocks noGrp="1"/>
          </p:cNvSpPr>
          <p:nvPr>
            <p:ph type="body" sz="half" idx="2"/>
          </p:nvPr>
        </p:nvSpPr>
        <p:spPr>
          <a:xfrm>
            <a:off x="839788" y="2057400"/>
            <a:ext cx="3932237" cy="3811588"/>
          </a:xfrm>
        </p:spPr>
        <p:txBody>
          <a:bodyPr/>
          <a:lstStyle>
            <a:lvl1pPr marL="0" indent="0">
              <a:lnSpc>
                <a:spcPct val="100000"/>
              </a:lnSpc>
              <a:buNone/>
              <a:defRPr sz="2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D4156A-381E-BE5E-CA1D-5D4E6B6A8DAF}"/>
              </a:ext>
            </a:extLst>
          </p:cNvPr>
          <p:cNvSpPr>
            <a:spLocks noGrp="1"/>
          </p:cNvSpPr>
          <p:nvPr>
            <p:ph type="dt" sz="half" idx="10"/>
          </p:nvPr>
        </p:nvSpPr>
        <p:spPr/>
        <p:txBody>
          <a:bodyPr/>
          <a:lstStyle/>
          <a:p>
            <a:fld id="{DE3D6C79-DEC3-4B30-A8A1-8729AF67D13F}" type="datetime1">
              <a:rPr lang="vi-VN" smtClean="0"/>
              <a:t>09/12/2025</a:t>
            </a:fld>
            <a:endParaRPr lang="vi-VN"/>
          </a:p>
        </p:txBody>
      </p:sp>
      <p:sp>
        <p:nvSpPr>
          <p:cNvPr id="6" name="Footer Placeholder 5">
            <a:extLst>
              <a:ext uri="{FF2B5EF4-FFF2-40B4-BE49-F238E27FC236}">
                <a16:creationId xmlns:a16="http://schemas.microsoft.com/office/drawing/2014/main" id="{6444967B-2C06-683A-A0A8-0AAB02C56176}"/>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9A8F2DD3-1D3B-CAA6-ACF7-C4E31CF28851}"/>
              </a:ext>
            </a:extLst>
          </p:cNvPr>
          <p:cNvSpPr>
            <a:spLocks noGrp="1"/>
          </p:cNvSpPr>
          <p:nvPr>
            <p:ph type="sldNum" sz="quarter" idx="12"/>
          </p:nvPr>
        </p:nvSpPr>
        <p:spPr/>
        <p:txBody>
          <a:bodyPr/>
          <a:lstStyle/>
          <a:p>
            <a:fld id="{CBF310FD-C090-4C3A-AF23-E809F51E0484}" type="slidenum">
              <a:rPr lang="vi-VN" smtClean="0"/>
              <a:t>‹#›</a:t>
            </a:fld>
            <a:endParaRPr lang="vi-VN"/>
          </a:p>
        </p:txBody>
      </p:sp>
    </p:spTree>
    <p:extLst>
      <p:ext uri="{BB962C8B-B14F-4D97-AF65-F5344CB8AC3E}">
        <p14:creationId xmlns:p14="http://schemas.microsoft.com/office/powerpoint/2010/main" val="114873665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648B60-BE19-1BAC-623A-8588E57FC98D}"/>
              </a:ext>
            </a:extLst>
          </p:cNvPr>
          <p:cNvSpPr>
            <a:spLocks noGrp="1"/>
          </p:cNvSpPr>
          <p:nvPr>
            <p:ph type="title"/>
          </p:nvPr>
        </p:nvSpPr>
        <p:spPr>
          <a:xfrm>
            <a:off x="838200" y="365126"/>
            <a:ext cx="10515600" cy="804648"/>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15DA8EF8-FC9A-10D6-714B-EAF0780E30C8}"/>
              </a:ext>
            </a:extLst>
          </p:cNvPr>
          <p:cNvSpPr>
            <a:spLocks noGrp="1"/>
          </p:cNvSpPr>
          <p:nvPr>
            <p:ph type="body" idx="1"/>
          </p:nvPr>
        </p:nvSpPr>
        <p:spPr>
          <a:xfrm>
            <a:off x="838200" y="1169774"/>
            <a:ext cx="10515600" cy="500718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E0E9905B-4357-18CC-EE84-284A4A60B7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7CEECB1-1BFB-4E6F-B280-AA7371E7E2C4}" type="datetime1">
              <a:rPr lang="vi-VN" smtClean="0"/>
              <a:t>09/12/2025</a:t>
            </a:fld>
            <a:endParaRPr lang="vi-VN"/>
          </a:p>
        </p:txBody>
      </p:sp>
      <p:sp>
        <p:nvSpPr>
          <p:cNvPr id="5" name="Footer Placeholder 4">
            <a:extLst>
              <a:ext uri="{FF2B5EF4-FFF2-40B4-BE49-F238E27FC236}">
                <a16:creationId xmlns:a16="http://schemas.microsoft.com/office/drawing/2014/main" id="{DB403A2B-6B7A-54BC-8BD6-2601A89C9A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vi-VN"/>
          </a:p>
        </p:txBody>
      </p:sp>
      <p:sp>
        <p:nvSpPr>
          <p:cNvPr id="6" name="Slide Number Placeholder 5">
            <a:extLst>
              <a:ext uri="{FF2B5EF4-FFF2-40B4-BE49-F238E27FC236}">
                <a16:creationId xmlns:a16="http://schemas.microsoft.com/office/drawing/2014/main" id="{B3957ADD-FEF1-BB29-A6A1-CB4E0AAEBD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F310FD-C090-4C3A-AF23-E809F51E0484}" type="slidenum">
              <a:rPr lang="vi-VN" smtClean="0"/>
              <a:t>‹#›</a:t>
            </a:fld>
            <a:endParaRPr lang="vi-VN"/>
          </a:p>
        </p:txBody>
      </p:sp>
      <p:sp>
        <p:nvSpPr>
          <p:cNvPr id="7" name="Rectangle 6">
            <a:extLst>
              <a:ext uri="{FF2B5EF4-FFF2-40B4-BE49-F238E27FC236}">
                <a16:creationId xmlns:a16="http://schemas.microsoft.com/office/drawing/2014/main" id="{655F853E-1FE3-0E74-33D1-DC1521C375D8}"/>
              </a:ext>
            </a:extLst>
          </p:cNvPr>
          <p:cNvSpPr/>
          <p:nvPr userDrawn="1"/>
        </p:nvSpPr>
        <p:spPr>
          <a:xfrm>
            <a:off x="0" y="6176962"/>
            <a:ext cx="12192000" cy="681037"/>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34070330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6" r:id="rId5"/>
    <p:sldLayoutId id="2147483657" r:id="rId6"/>
  </p:sldLayoutIdLst>
  <p:hf hdr="0" ftr="0" dt="0"/>
  <p:txStyles>
    <p:titleStyle>
      <a:lvl1pPr algn="l" defTabSz="914400" rtl="0" eaLnBrk="1" latinLnBrk="0" hangingPunct="1">
        <a:lnSpc>
          <a:spcPct val="90000"/>
        </a:lnSpc>
        <a:spcBef>
          <a:spcPct val="0"/>
        </a:spcBef>
        <a:buNone/>
        <a:defRPr sz="4400" b="1"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017E4-AE59-8CFC-8672-A71085A60784}"/>
              </a:ext>
            </a:extLst>
          </p:cNvPr>
          <p:cNvSpPr>
            <a:spLocks noGrp="1"/>
          </p:cNvSpPr>
          <p:nvPr>
            <p:ph type="ctrTitle"/>
          </p:nvPr>
        </p:nvSpPr>
        <p:spPr/>
        <p:txBody>
          <a:bodyPr>
            <a:normAutofit fontScale="90000"/>
          </a:bodyPr>
          <a:lstStyle/>
          <a:p>
            <a:r>
              <a:rPr lang="vi-VN"/>
              <a:t>Song song hóa thuật toán giảm chiều dữ liệu với</a:t>
            </a:r>
            <a:br>
              <a:rPr lang="vi-VN"/>
            </a:br>
            <a:r>
              <a:rPr lang="vi-VN">
                <a:solidFill>
                  <a:schemeClr val="accent4">
                    <a:lumMod val="75000"/>
                  </a:schemeClr>
                </a:solidFill>
              </a:rPr>
              <a:t>Singular Value Decomposition</a:t>
            </a:r>
          </a:p>
        </p:txBody>
      </p:sp>
      <p:sp>
        <p:nvSpPr>
          <p:cNvPr id="3" name="Subtitle 2">
            <a:extLst>
              <a:ext uri="{FF2B5EF4-FFF2-40B4-BE49-F238E27FC236}">
                <a16:creationId xmlns:a16="http://schemas.microsoft.com/office/drawing/2014/main" id="{064DBF02-AC22-15C9-78C8-3119D2A01A9A}"/>
              </a:ext>
            </a:extLst>
          </p:cNvPr>
          <p:cNvSpPr>
            <a:spLocks noGrp="1"/>
          </p:cNvSpPr>
          <p:nvPr>
            <p:ph type="subTitle" idx="1"/>
          </p:nvPr>
        </p:nvSpPr>
        <p:spPr/>
        <p:txBody>
          <a:bodyPr/>
          <a:lstStyle/>
          <a:p>
            <a:endParaRPr lang="vi-VN"/>
          </a:p>
        </p:txBody>
      </p:sp>
      <p:sp>
        <p:nvSpPr>
          <p:cNvPr id="4" name="Slide Number Placeholder 3">
            <a:extLst>
              <a:ext uri="{FF2B5EF4-FFF2-40B4-BE49-F238E27FC236}">
                <a16:creationId xmlns:a16="http://schemas.microsoft.com/office/drawing/2014/main" id="{9D96192C-827D-32DA-EE32-6DB7076B3BDB}"/>
              </a:ext>
            </a:extLst>
          </p:cNvPr>
          <p:cNvSpPr>
            <a:spLocks noGrp="1"/>
          </p:cNvSpPr>
          <p:nvPr>
            <p:ph type="sldNum" sz="quarter" idx="12"/>
          </p:nvPr>
        </p:nvSpPr>
        <p:spPr/>
        <p:txBody>
          <a:bodyPr/>
          <a:lstStyle/>
          <a:p>
            <a:fld id="{CBF310FD-C090-4C3A-AF23-E809F51E0484}" type="slidenum">
              <a:rPr lang="vi-VN" smtClean="0"/>
              <a:t>1</a:t>
            </a:fld>
            <a:endParaRPr lang="vi-VN"/>
          </a:p>
        </p:txBody>
      </p:sp>
    </p:spTree>
    <p:extLst>
      <p:ext uri="{BB962C8B-B14F-4D97-AF65-F5344CB8AC3E}">
        <p14:creationId xmlns:p14="http://schemas.microsoft.com/office/powerpoint/2010/main" val="3135021859"/>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050F6-AE5A-5559-997A-331B897C22AD}"/>
              </a:ext>
            </a:extLst>
          </p:cNvPr>
          <p:cNvSpPr>
            <a:spLocks noGrp="1"/>
          </p:cNvSpPr>
          <p:nvPr>
            <p:ph type="title"/>
          </p:nvPr>
        </p:nvSpPr>
        <p:spPr/>
        <p:txBody>
          <a:bodyPr/>
          <a:lstStyle/>
          <a:p>
            <a:r>
              <a:rPr lang="vi-VN"/>
              <a:t>Nội dung</a:t>
            </a:r>
          </a:p>
        </p:txBody>
      </p:sp>
      <p:sp>
        <p:nvSpPr>
          <p:cNvPr id="3" name="Content Placeholder 2">
            <a:extLst>
              <a:ext uri="{FF2B5EF4-FFF2-40B4-BE49-F238E27FC236}">
                <a16:creationId xmlns:a16="http://schemas.microsoft.com/office/drawing/2014/main" id="{92C534EB-5271-0F4B-BA3C-DA4F06FEF875}"/>
              </a:ext>
            </a:extLst>
          </p:cNvPr>
          <p:cNvSpPr>
            <a:spLocks noGrp="1"/>
          </p:cNvSpPr>
          <p:nvPr>
            <p:ph idx="1"/>
          </p:nvPr>
        </p:nvSpPr>
        <p:spPr/>
        <p:txBody>
          <a:bodyPr/>
          <a:lstStyle/>
          <a:p>
            <a:pPr marL="571500" indent="-571500">
              <a:buFont typeface="+mj-lt"/>
              <a:buAutoNum type="romanUcPeriod"/>
            </a:pPr>
            <a:r>
              <a:rPr lang="vi-VN"/>
              <a:t>Giới thiệu bài toán</a:t>
            </a:r>
          </a:p>
          <a:p>
            <a:pPr marL="571500" indent="-571500">
              <a:buFont typeface="+mj-lt"/>
              <a:buAutoNum type="romanUcPeriod"/>
            </a:pPr>
            <a:r>
              <a:rPr lang="vi-VN"/>
              <a:t>Cơ sở lý thuyết</a:t>
            </a:r>
          </a:p>
          <a:p>
            <a:pPr marL="571500" indent="-571500">
              <a:buFont typeface="+mj-lt"/>
              <a:buAutoNum type="romanUcPeriod"/>
            </a:pPr>
            <a:r>
              <a:rPr lang="vi-VN"/>
              <a:t>Phương pháp song song hóa</a:t>
            </a:r>
          </a:p>
          <a:p>
            <a:pPr marL="571500" indent="-571500">
              <a:buFont typeface="+mj-lt"/>
              <a:buAutoNum type="romanUcPeriod"/>
            </a:pPr>
            <a:r>
              <a:rPr lang="vi-VN"/>
              <a:t>Thực nghiệm và đánh giá</a:t>
            </a:r>
          </a:p>
          <a:p>
            <a:pPr marL="571500" indent="-571500">
              <a:buFont typeface="+mj-lt"/>
              <a:buAutoNum type="romanUcPeriod"/>
            </a:pPr>
            <a:r>
              <a:rPr lang="vi-VN"/>
              <a:t>Mở rộng</a:t>
            </a:r>
          </a:p>
          <a:p>
            <a:pPr marL="571500" indent="-571500">
              <a:buFont typeface="+mj-lt"/>
              <a:buAutoNum type="romanUcPeriod"/>
            </a:pPr>
            <a:r>
              <a:rPr lang="vi-VN"/>
              <a:t>Kết luận</a:t>
            </a:r>
          </a:p>
        </p:txBody>
      </p:sp>
      <p:sp>
        <p:nvSpPr>
          <p:cNvPr id="4" name="Slide Number Placeholder 3">
            <a:extLst>
              <a:ext uri="{FF2B5EF4-FFF2-40B4-BE49-F238E27FC236}">
                <a16:creationId xmlns:a16="http://schemas.microsoft.com/office/drawing/2014/main" id="{77EDFC7B-E357-6118-39E9-91BEC1264674}"/>
              </a:ext>
            </a:extLst>
          </p:cNvPr>
          <p:cNvSpPr>
            <a:spLocks noGrp="1"/>
          </p:cNvSpPr>
          <p:nvPr>
            <p:ph type="sldNum" sz="quarter" idx="12"/>
          </p:nvPr>
        </p:nvSpPr>
        <p:spPr/>
        <p:txBody>
          <a:bodyPr/>
          <a:lstStyle/>
          <a:p>
            <a:fld id="{CBF310FD-C090-4C3A-AF23-E809F51E0484}" type="slidenum">
              <a:rPr lang="vi-VN" smtClean="0"/>
              <a:t>2</a:t>
            </a:fld>
            <a:endParaRPr lang="vi-VN"/>
          </a:p>
        </p:txBody>
      </p:sp>
    </p:spTree>
    <p:extLst>
      <p:ext uri="{BB962C8B-B14F-4D97-AF65-F5344CB8AC3E}">
        <p14:creationId xmlns:p14="http://schemas.microsoft.com/office/powerpoint/2010/main" val="1680866708"/>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2F3F52B-D35A-E5BA-31C2-BA2F93603207}"/>
              </a:ext>
            </a:extLst>
          </p:cNvPr>
          <p:cNvSpPr>
            <a:spLocks noGrp="1"/>
          </p:cNvSpPr>
          <p:nvPr>
            <p:ph type="title"/>
          </p:nvPr>
        </p:nvSpPr>
        <p:spPr/>
        <p:txBody>
          <a:bodyPr/>
          <a:lstStyle/>
          <a:p>
            <a:r>
              <a:rPr lang="vi-VN"/>
              <a:t>I. Giới thiệu bài toán</a:t>
            </a:r>
          </a:p>
        </p:txBody>
      </p:sp>
      <p:sp>
        <p:nvSpPr>
          <p:cNvPr id="5" name="Text Placeholder 4">
            <a:extLst>
              <a:ext uri="{FF2B5EF4-FFF2-40B4-BE49-F238E27FC236}">
                <a16:creationId xmlns:a16="http://schemas.microsoft.com/office/drawing/2014/main" id="{AD7D8E28-10D2-C7A0-CDBF-7AAFC0C22017}"/>
              </a:ext>
            </a:extLst>
          </p:cNvPr>
          <p:cNvSpPr>
            <a:spLocks noGrp="1"/>
          </p:cNvSpPr>
          <p:nvPr>
            <p:ph type="body" idx="1"/>
          </p:nvPr>
        </p:nvSpPr>
        <p:spPr/>
        <p:txBody>
          <a:bodyPr/>
          <a:lstStyle/>
          <a:p>
            <a:endParaRPr lang="vi-VN"/>
          </a:p>
        </p:txBody>
      </p:sp>
      <p:sp>
        <p:nvSpPr>
          <p:cNvPr id="2" name="Slide Number Placeholder 1">
            <a:extLst>
              <a:ext uri="{FF2B5EF4-FFF2-40B4-BE49-F238E27FC236}">
                <a16:creationId xmlns:a16="http://schemas.microsoft.com/office/drawing/2014/main" id="{B189D0FF-F124-84EA-EF40-F2F46B3C0497}"/>
              </a:ext>
            </a:extLst>
          </p:cNvPr>
          <p:cNvSpPr>
            <a:spLocks noGrp="1"/>
          </p:cNvSpPr>
          <p:nvPr>
            <p:ph type="sldNum" sz="quarter" idx="12"/>
          </p:nvPr>
        </p:nvSpPr>
        <p:spPr/>
        <p:txBody>
          <a:bodyPr/>
          <a:lstStyle/>
          <a:p>
            <a:fld id="{CBF310FD-C090-4C3A-AF23-E809F51E0484}" type="slidenum">
              <a:rPr lang="vi-VN" smtClean="0"/>
              <a:t>3</a:t>
            </a:fld>
            <a:endParaRPr lang="vi-VN"/>
          </a:p>
        </p:txBody>
      </p:sp>
    </p:spTree>
    <p:extLst>
      <p:ext uri="{BB962C8B-B14F-4D97-AF65-F5344CB8AC3E}">
        <p14:creationId xmlns:p14="http://schemas.microsoft.com/office/powerpoint/2010/main" val="1521118218"/>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F11DF94-043C-BF7D-9142-AA47DBD2108B}"/>
              </a:ext>
            </a:extLst>
          </p:cNvPr>
          <p:cNvSpPr>
            <a:spLocks noGrp="1"/>
          </p:cNvSpPr>
          <p:nvPr>
            <p:ph type="title"/>
          </p:nvPr>
        </p:nvSpPr>
        <p:spPr/>
        <p:txBody>
          <a:bodyPr/>
          <a:lstStyle/>
          <a:p>
            <a:r>
              <a:rPr lang="vi-VN"/>
              <a:t>I. Giới thiệu bài toán</a:t>
            </a:r>
          </a:p>
        </p:txBody>
      </p:sp>
      <p:sp>
        <p:nvSpPr>
          <p:cNvPr id="5" name="Content Placeholder 4">
            <a:extLst>
              <a:ext uri="{FF2B5EF4-FFF2-40B4-BE49-F238E27FC236}">
                <a16:creationId xmlns:a16="http://schemas.microsoft.com/office/drawing/2014/main" id="{B356FADA-E638-3E0E-CE5F-DC3F302FC8D4}"/>
              </a:ext>
            </a:extLst>
          </p:cNvPr>
          <p:cNvSpPr>
            <a:spLocks noGrp="1"/>
          </p:cNvSpPr>
          <p:nvPr>
            <p:ph idx="1"/>
          </p:nvPr>
        </p:nvSpPr>
        <p:spPr/>
        <p:txBody>
          <a:bodyPr/>
          <a:lstStyle/>
          <a:p>
            <a:r>
              <a:rPr lang="vi-VN" b="1"/>
              <a:t>Bối cảnh</a:t>
            </a:r>
            <a:r>
              <a:rPr lang="vi-VN"/>
              <a:t>: Trong kỷ nguyên dữ liệu lớn, các tập dữ liệu khổng lồ xuất hiện ngày càng nhiều trong các lĩnh vực như thị giác máy tính, xử lý ngôn ngữ tự nhiên,...</a:t>
            </a:r>
          </a:p>
          <a:p>
            <a:endParaRPr lang="vi-VN"/>
          </a:p>
        </p:txBody>
      </p:sp>
      <p:sp>
        <p:nvSpPr>
          <p:cNvPr id="2" name="Slide Number Placeholder 1">
            <a:extLst>
              <a:ext uri="{FF2B5EF4-FFF2-40B4-BE49-F238E27FC236}">
                <a16:creationId xmlns:a16="http://schemas.microsoft.com/office/drawing/2014/main" id="{8A05DBAF-0159-BD66-6323-C50E426FAE6E}"/>
              </a:ext>
            </a:extLst>
          </p:cNvPr>
          <p:cNvSpPr>
            <a:spLocks noGrp="1"/>
          </p:cNvSpPr>
          <p:nvPr>
            <p:ph type="sldNum" sz="quarter" idx="12"/>
          </p:nvPr>
        </p:nvSpPr>
        <p:spPr/>
        <p:txBody>
          <a:bodyPr/>
          <a:lstStyle/>
          <a:p>
            <a:fld id="{CBF310FD-C090-4C3A-AF23-E809F51E0484}" type="slidenum">
              <a:rPr lang="vi-VN" smtClean="0"/>
              <a:t>4</a:t>
            </a:fld>
            <a:endParaRPr lang="vi-VN"/>
          </a:p>
        </p:txBody>
      </p:sp>
    </p:spTree>
    <p:extLst>
      <p:ext uri="{BB962C8B-B14F-4D97-AF65-F5344CB8AC3E}">
        <p14:creationId xmlns:p14="http://schemas.microsoft.com/office/powerpoint/2010/main" val="676571418"/>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50393-986E-FD00-CEC3-CCD11B673C89}"/>
              </a:ext>
            </a:extLst>
          </p:cNvPr>
          <p:cNvSpPr>
            <a:spLocks noGrp="1"/>
          </p:cNvSpPr>
          <p:nvPr>
            <p:ph type="title"/>
          </p:nvPr>
        </p:nvSpPr>
        <p:spPr/>
        <p:txBody>
          <a:bodyPr/>
          <a:lstStyle/>
          <a:p>
            <a:r>
              <a:rPr lang="vi-VN"/>
              <a:t>I. Giới thiệu bài toán</a:t>
            </a:r>
          </a:p>
        </p:txBody>
      </p:sp>
      <p:sp>
        <p:nvSpPr>
          <p:cNvPr id="3" name="Content Placeholder 2">
            <a:extLst>
              <a:ext uri="{FF2B5EF4-FFF2-40B4-BE49-F238E27FC236}">
                <a16:creationId xmlns:a16="http://schemas.microsoft.com/office/drawing/2014/main" id="{5C216C9E-6E39-A6C3-4B1E-10D21BD1B080}"/>
              </a:ext>
            </a:extLst>
          </p:cNvPr>
          <p:cNvSpPr>
            <a:spLocks noGrp="1"/>
          </p:cNvSpPr>
          <p:nvPr>
            <p:ph idx="1"/>
          </p:nvPr>
        </p:nvSpPr>
        <p:spPr/>
        <p:txBody>
          <a:bodyPr/>
          <a:lstStyle/>
          <a:p>
            <a:r>
              <a:rPr lang="vi-VN" b="1"/>
              <a:t>Thách thức</a:t>
            </a:r>
            <a:r>
              <a:rPr lang="vi-VN"/>
              <a:t>:</a:t>
            </a:r>
          </a:p>
          <a:p>
            <a:pPr lvl="1"/>
            <a:r>
              <a:rPr lang="vi-VN"/>
              <a:t>"Lời nguyền chiều không gian" (Curse of Dimensionality)</a:t>
            </a:r>
          </a:p>
          <a:p>
            <a:pPr lvl="1"/>
            <a:r>
              <a:rPr lang="vi-VN"/>
              <a:t>Chi phí tính toán và lưu trữ khổng lồ</a:t>
            </a:r>
          </a:p>
          <a:p>
            <a:pPr lvl="1"/>
            <a:r>
              <a:rPr lang="vi-VN"/>
              <a:t>Nhiễu và các đặc trưng dư thừa</a:t>
            </a:r>
          </a:p>
          <a:p>
            <a:pPr lvl="1"/>
            <a:endParaRPr lang="vi-VN"/>
          </a:p>
        </p:txBody>
      </p:sp>
      <p:pic>
        <p:nvPicPr>
          <p:cNvPr id="1026" name="Picture 2" descr="A Mathematical Deep Dive Into the Curse of Dimensionality">
            <a:extLst>
              <a:ext uri="{FF2B5EF4-FFF2-40B4-BE49-F238E27FC236}">
                <a16:creationId xmlns:a16="http://schemas.microsoft.com/office/drawing/2014/main" id="{5B5639C8-C618-D41C-5B71-EC8D892100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1838" y="3226754"/>
            <a:ext cx="7908324" cy="2870340"/>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2BA59EB6-5A3D-7B64-C575-57558E0240ED}"/>
              </a:ext>
            </a:extLst>
          </p:cNvPr>
          <p:cNvSpPr>
            <a:spLocks noGrp="1"/>
          </p:cNvSpPr>
          <p:nvPr>
            <p:ph type="sldNum" sz="quarter" idx="12"/>
          </p:nvPr>
        </p:nvSpPr>
        <p:spPr/>
        <p:txBody>
          <a:bodyPr/>
          <a:lstStyle/>
          <a:p>
            <a:fld id="{CBF310FD-C090-4C3A-AF23-E809F51E0484}" type="slidenum">
              <a:rPr lang="vi-VN" smtClean="0"/>
              <a:t>5</a:t>
            </a:fld>
            <a:endParaRPr lang="vi-VN"/>
          </a:p>
        </p:txBody>
      </p:sp>
    </p:spTree>
    <p:extLst>
      <p:ext uri="{BB962C8B-B14F-4D97-AF65-F5344CB8AC3E}">
        <p14:creationId xmlns:p14="http://schemas.microsoft.com/office/powerpoint/2010/main" val="2375847776"/>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C284A-E6E3-AD6E-BC1A-0F02CC1E7960}"/>
              </a:ext>
            </a:extLst>
          </p:cNvPr>
          <p:cNvSpPr>
            <a:spLocks noGrp="1"/>
          </p:cNvSpPr>
          <p:nvPr>
            <p:ph type="title"/>
          </p:nvPr>
        </p:nvSpPr>
        <p:spPr/>
        <p:txBody>
          <a:bodyPr/>
          <a:lstStyle/>
          <a:p>
            <a:r>
              <a:rPr lang="vi-VN"/>
              <a:t>I. Giới thiệu bài toán</a:t>
            </a:r>
          </a:p>
        </p:txBody>
      </p:sp>
      <p:sp>
        <p:nvSpPr>
          <p:cNvPr id="3" name="Content Placeholder 2">
            <a:extLst>
              <a:ext uri="{FF2B5EF4-FFF2-40B4-BE49-F238E27FC236}">
                <a16:creationId xmlns:a16="http://schemas.microsoft.com/office/drawing/2014/main" id="{058A0439-8204-DD3C-F320-80BCD97A740C}"/>
              </a:ext>
            </a:extLst>
          </p:cNvPr>
          <p:cNvSpPr>
            <a:spLocks noGrp="1"/>
          </p:cNvSpPr>
          <p:nvPr>
            <p:ph idx="1"/>
          </p:nvPr>
        </p:nvSpPr>
        <p:spPr/>
        <p:txBody>
          <a:bodyPr/>
          <a:lstStyle/>
          <a:p>
            <a:r>
              <a:rPr lang="vi-VN" b="1"/>
              <a:t>Giải pháp</a:t>
            </a:r>
            <a:r>
              <a:rPr lang="vi-VN"/>
              <a:t>: Giảm chiều dữ liệu và giữ lại những “</a:t>
            </a:r>
            <a:r>
              <a:rPr lang="vi-VN" i="1"/>
              <a:t>thông tin quan trọng nhất</a:t>
            </a:r>
            <a:r>
              <a:rPr lang="vi-VN"/>
              <a:t>”</a:t>
            </a:r>
          </a:p>
          <a:p>
            <a:r>
              <a:rPr lang="vi-VN"/>
              <a:t>Trong quá trình này, </a:t>
            </a:r>
            <a:r>
              <a:rPr lang="vi-VN" b="1">
                <a:solidFill>
                  <a:schemeClr val="accent4">
                    <a:lumMod val="75000"/>
                  </a:schemeClr>
                </a:solidFill>
              </a:rPr>
              <a:t>SVD</a:t>
            </a:r>
            <a:r>
              <a:rPr lang="vi-VN"/>
              <a:t> đóng vai trò quan trọng trong việc tìm ra “</a:t>
            </a:r>
            <a:r>
              <a:rPr lang="vi-VN" i="1"/>
              <a:t>Thông tin quan trọng nhất</a:t>
            </a:r>
            <a:r>
              <a:rPr lang="vi-VN"/>
              <a:t>”</a:t>
            </a:r>
          </a:p>
          <a:p>
            <a:pPr marL="0" indent="0">
              <a:buNone/>
            </a:pPr>
            <a:r>
              <a:rPr lang="vi-VN"/>
              <a:t>⇒ Cần song song hóa để tận dụng tối đa phần cứng đa lõi</a:t>
            </a:r>
          </a:p>
        </p:txBody>
      </p:sp>
      <p:sp>
        <p:nvSpPr>
          <p:cNvPr id="4" name="Slide Number Placeholder 3">
            <a:extLst>
              <a:ext uri="{FF2B5EF4-FFF2-40B4-BE49-F238E27FC236}">
                <a16:creationId xmlns:a16="http://schemas.microsoft.com/office/drawing/2014/main" id="{BDF0E3BF-B5DA-4F88-164E-08066641624B}"/>
              </a:ext>
            </a:extLst>
          </p:cNvPr>
          <p:cNvSpPr>
            <a:spLocks noGrp="1"/>
          </p:cNvSpPr>
          <p:nvPr>
            <p:ph type="sldNum" sz="quarter" idx="12"/>
          </p:nvPr>
        </p:nvSpPr>
        <p:spPr/>
        <p:txBody>
          <a:bodyPr/>
          <a:lstStyle/>
          <a:p>
            <a:fld id="{CBF310FD-C090-4C3A-AF23-E809F51E0484}" type="slidenum">
              <a:rPr lang="vi-VN" smtClean="0"/>
              <a:t>6</a:t>
            </a:fld>
            <a:endParaRPr lang="vi-VN"/>
          </a:p>
        </p:txBody>
      </p:sp>
    </p:spTree>
    <p:extLst>
      <p:ext uri="{BB962C8B-B14F-4D97-AF65-F5344CB8AC3E}">
        <p14:creationId xmlns:p14="http://schemas.microsoft.com/office/powerpoint/2010/main" val="3486832236"/>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A4BBA-888E-4902-1889-2042204D7303}"/>
              </a:ext>
            </a:extLst>
          </p:cNvPr>
          <p:cNvSpPr>
            <a:spLocks noGrp="1"/>
          </p:cNvSpPr>
          <p:nvPr>
            <p:ph type="title"/>
          </p:nvPr>
        </p:nvSpPr>
        <p:spPr/>
        <p:txBody>
          <a:bodyPr/>
          <a:lstStyle/>
          <a:p>
            <a:r>
              <a:rPr lang="vi-VN"/>
              <a:t>I. Giới thiệu bài toán</a:t>
            </a:r>
          </a:p>
        </p:txBody>
      </p:sp>
      <p:sp>
        <p:nvSpPr>
          <p:cNvPr id="3" name="Content Placeholder 2">
            <a:extLst>
              <a:ext uri="{FF2B5EF4-FFF2-40B4-BE49-F238E27FC236}">
                <a16:creationId xmlns:a16="http://schemas.microsoft.com/office/drawing/2014/main" id="{726B0F7A-3761-5482-1647-77F0893864D8}"/>
              </a:ext>
            </a:extLst>
          </p:cNvPr>
          <p:cNvSpPr>
            <a:spLocks noGrp="1"/>
          </p:cNvSpPr>
          <p:nvPr>
            <p:ph idx="1"/>
          </p:nvPr>
        </p:nvSpPr>
        <p:spPr/>
        <p:txBody>
          <a:bodyPr/>
          <a:lstStyle/>
          <a:p>
            <a:r>
              <a:rPr lang="vi-VN" b="1"/>
              <a:t>Mục tiêu</a:t>
            </a:r>
            <a:r>
              <a:rPr lang="vi-VN"/>
              <a:t>:</a:t>
            </a:r>
          </a:p>
          <a:p>
            <a:pPr lvl="1"/>
            <a:r>
              <a:rPr lang="vi-VN"/>
              <a:t>Xây dựng phiên bản song song của </a:t>
            </a:r>
            <a:r>
              <a:rPr lang="vi-VN" b="1">
                <a:solidFill>
                  <a:schemeClr val="accent4">
                    <a:lumMod val="75000"/>
                  </a:schemeClr>
                </a:solidFill>
              </a:rPr>
              <a:t>SVD</a:t>
            </a:r>
            <a:r>
              <a:rPr lang="vi-VN"/>
              <a:t> và đánh giá tác động</a:t>
            </a:r>
          </a:p>
          <a:p>
            <a:pPr lvl="1"/>
            <a:r>
              <a:rPr lang="vi-VN"/>
              <a:t>So sánh giữa </a:t>
            </a:r>
            <a:r>
              <a:rPr lang="vi-VN" b="1">
                <a:solidFill>
                  <a:schemeClr val="accent4">
                    <a:lumMod val="75000"/>
                  </a:schemeClr>
                </a:solidFill>
              </a:rPr>
              <a:t>SVD</a:t>
            </a:r>
            <a:r>
              <a:rPr lang="vi-VN"/>
              <a:t> tuần tự và </a:t>
            </a:r>
            <a:r>
              <a:rPr lang="vi-VN" b="1">
                <a:solidFill>
                  <a:schemeClr val="accent4">
                    <a:lumMod val="75000"/>
                  </a:schemeClr>
                </a:solidFill>
              </a:rPr>
              <a:t>SVD</a:t>
            </a:r>
            <a:r>
              <a:rPr lang="vi-VN"/>
              <a:t> song song</a:t>
            </a:r>
          </a:p>
          <a:p>
            <a:pPr lvl="1"/>
            <a:r>
              <a:rPr lang="vi-VN"/>
              <a:t>Ứng dụng </a:t>
            </a:r>
            <a:r>
              <a:rPr lang="vi-VN" b="1">
                <a:solidFill>
                  <a:schemeClr val="accent4">
                    <a:lumMod val="75000"/>
                  </a:schemeClr>
                </a:solidFill>
              </a:rPr>
              <a:t>SVD</a:t>
            </a:r>
            <a:r>
              <a:rPr lang="vi-VN"/>
              <a:t> song song vào các bài toán</a:t>
            </a:r>
          </a:p>
        </p:txBody>
      </p:sp>
      <p:sp>
        <p:nvSpPr>
          <p:cNvPr id="4" name="Slide Number Placeholder 3">
            <a:extLst>
              <a:ext uri="{FF2B5EF4-FFF2-40B4-BE49-F238E27FC236}">
                <a16:creationId xmlns:a16="http://schemas.microsoft.com/office/drawing/2014/main" id="{DC134122-9F4F-FA96-904B-5273EE8E805F}"/>
              </a:ext>
            </a:extLst>
          </p:cNvPr>
          <p:cNvSpPr>
            <a:spLocks noGrp="1"/>
          </p:cNvSpPr>
          <p:nvPr>
            <p:ph type="sldNum" sz="quarter" idx="12"/>
          </p:nvPr>
        </p:nvSpPr>
        <p:spPr/>
        <p:txBody>
          <a:bodyPr/>
          <a:lstStyle/>
          <a:p>
            <a:fld id="{CBF310FD-C090-4C3A-AF23-E809F51E0484}" type="slidenum">
              <a:rPr lang="vi-VN" smtClean="0"/>
              <a:t>7</a:t>
            </a:fld>
            <a:endParaRPr lang="vi-VN"/>
          </a:p>
        </p:txBody>
      </p:sp>
    </p:spTree>
    <p:extLst>
      <p:ext uri="{BB962C8B-B14F-4D97-AF65-F5344CB8AC3E}">
        <p14:creationId xmlns:p14="http://schemas.microsoft.com/office/powerpoint/2010/main" val="2956451425"/>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AADDECA-0603-DC85-C5AE-429732508BEA}"/>
              </a:ext>
            </a:extLst>
          </p:cNvPr>
          <p:cNvSpPr>
            <a:spLocks noGrp="1"/>
          </p:cNvSpPr>
          <p:nvPr>
            <p:ph type="title"/>
          </p:nvPr>
        </p:nvSpPr>
        <p:spPr/>
        <p:txBody>
          <a:bodyPr/>
          <a:lstStyle/>
          <a:p>
            <a:r>
              <a:rPr lang="vi-VN"/>
              <a:t>II. Cơ sở lý thuyết</a:t>
            </a:r>
          </a:p>
        </p:txBody>
      </p:sp>
      <p:sp>
        <p:nvSpPr>
          <p:cNvPr id="5" name="Text Placeholder 4">
            <a:extLst>
              <a:ext uri="{FF2B5EF4-FFF2-40B4-BE49-F238E27FC236}">
                <a16:creationId xmlns:a16="http://schemas.microsoft.com/office/drawing/2014/main" id="{5F3AA0A4-D871-E4BC-3C0B-A5F450736959}"/>
              </a:ext>
            </a:extLst>
          </p:cNvPr>
          <p:cNvSpPr>
            <a:spLocks noGrp="1"/>
          </p:cNvSpPr>
          <p:nvPr>
            <p:ph type="body" idx="1"/>
          </p:nvPr>
        </p:nvSpPr>
        <p:spPr/>
        <p:txBody>
          <a:bodyPr/>
          <a:lstStyle/>
          <a:p>
            <a:endParaRPr lang="vi-VN"/>
          </a:p>
        </p:txBody>
      </p:sp>
      <p:sp>
        <p:nvSpPr>
          <p:cNvPr id="2" name="Slide Number Placeholder 1">
            <a:extLst>
              <a:ext uri="{FF2B5EF4-FFF2-40B4-BE49-F238E27FC236}">
                <a16:creationId xmlns:a16="http://schemas.microsoft.com/office/drawing/2014/main" id="{DAACD804-1D4E-8E1F-0905-AA23848BDF80}"/>
              </a:ext>
            </a:extLst>
          </p:cNvPr>
          <p:cNvSpPr>
            <a:spLocks noGrp="1"/>
          </p:cNvSpPr>
          <p:nvPr>
            <p:ph type="sldNum" sz="quarter" idx="12"/>
          </p:nvPr>
        </p:nvSpPr>
        <p:spPr/>
        <p:txBody>
          <a:bodyPr/>
          <a:lstStyle/>
          <a:p>
            <a:fld id="{CBF310FD-C090-4C3A-AF23-E809F51E0484}" type="slidenum">
              <a:rPr lang="vi-VN" smtClean="0"/>
              <a:t>8</a:t>
            </a:fld>
            <a:endParaRPr lang="vi-VN"/>
          </a:p>
        </p:txBody>
      </p:sp>
    </p:spTree>
    <p:extLst>
      <p:ext uri="{BB962C8B-B14F-4D97-AF65-F5344CB8AC3E}">
        <p14:creationId xmlns:p14="http://schemas.microsoft.com/office/powerpoint/2010/main" val="3542207418"/>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6B942F1-BBE9-34B6-3F24-FDBDC7CED157}"/>
              </a:ext>
            </a:extLst>
          </p:cNvPr>
          <p:cNvSpPr>
            <a:spLocks noGrp="1"/>
          </p:cNvSpPr>
          <p:nvPr>
            <p:ph type="title"/>
          </p:nvPr>
        </p:nvSpPr>
        <p:spPr/>
        <p:txBody>
          <a:bodyPr/>
          <a:lstStyle/>
          <a:p>
            <a:r>
              <a:rPr lang="vi-VN"/>
              <a:t>II. Cơ sở lý thuyết</a:t>
            </a:r>
          </a:p>
        </p:txBody>
      </p:sp>
      <mc:AlternateContent xmlns:mc="http://schemas.openxmlformats.org/markup-compatibility/2006">
        <mc:Choice xmlns:a14="http://schemas.microsoft.com/office/drawing/2010/main" Requires="a14">
          <p:sp>
            <p:nvSpPr>
              <p:cNvPr id="7" name="Content Placeholder 6">
                <a:extLst>
                  <a:ext uri="{FF2B5EF4-FFF2-40B4-BE49-F238E27FC236}">
                    <a16:creationId xmlns:a16="http://schemas.microsoft.com/office/drawing/2014/main" id="{6979AF9D-5C22-0491-3B12-10B1E5D229D2}"/>
                  </a:ext>
                </a:extLst>
              </p:cNvPr>
              <p:cNvSpPr>
                <a:spLocks noGrp="1"/>
              </p:cNvSpPr>
              <p:nvPr>
                <p:ph idx="1"/>
              </p:nvPr>
            </p:nvSpPr>
            <p:spPr/>
            <p:txBody>
              <a:bodyPr/>
              <a:lstStyle/>
              <a:p>
                <a:r>
                  <a:rPr lang="vi-VN" b="1"/>
                  <a:t>­</a:t>
                </a:r>
                <a:r>
                  <a:rPr lang="vi-VN" b="1">
                    <a:solidFill>
                      <a:schemeClr val="accent4">
                        <a:lumMod val="75000"/>
                      </a:schemeClr>
                    </a:solidFill>
                  </a:rPr>
                  <a:t>Singular value decomposition </a:t>
                </a:r>
                <a:r>
                  <a:rPr lang="vi-VN">
                    <a:solidFill>
                      <a:schemeClr val="accent4">
                        <a:lumMod val="75000"/>
                      </a:schemeClr>
                    </a:solidFill>
                  </a:rPr>
                  <a:t>(</a:t>
                </a:r>
                <a:r>
                  <a:rPr lang="vi-VN" i="1">
                    <a:solidFill>
                      <a:schemeClr val="accent4">
                        <a:lumMod val="75000"/>
                      </a:schemeClr>
                    </a:solidFill>
                  </a:rPr>
                  <a:t>SVD</a:t>
                </a:r>
                <a:r>
                  <a:rPr lang="vi-VN">
                    <a:solidFill>
                      <a:schemeClr val="accent4">
                        <a:lumMod val="75000"/>
                      </a:schemeClr>
                    </a:solidFill>
                  </a:rPr>
                  <a:t>)</a:t>
                </a:r>
                <a:r>
                  <a:rPr lang="vi-VN"/>
                  <a:t>: là một phương pháp phân rã một ma trận </a:t>
                </a:r>
                <a14:m>
                  <m:oMath xmlns:m="http://schemas.openxmlformats.org/officeDocument/2006/math">
                    <m:r>
                      <m:rPr>
                        <m:sty m:val="p"/>
                      </m:rPr>
                      <a:rPr lang="vi-VN">
                        <a:latin typeface="Cambria Math" panose="02040503050406030204" pitchFamily="18" charset="0"/>
                      </a:rPr>
                      <m:t>A</m:t>
                    </m:r>
                  </m:oMath>
                </a14:m>
                <a:r>
                  <a:rPr lang="vi-VN"/>
                  <a:t> thành ba ma trận tương ứng:</a:t>
                </a:r>
              </a:p>
              <a:p>
                <a:pPr marL="0" indent="0">
                  <a:buNone/>
                </a:pPr>
                <a14:m>
                  <m:oMathPara xmlns:m="http://schemas.openxmlformats.org/officeDocument/2006/math">
                    <m:oMathParaPr>
                      <m:jc m:val="centerGroup"/>
                    </m:oMathParaPr>
                    <m:oMath xmlns:m="http://schemas.openxmlformats.org/officeDocument/2006/math">
                      <m:r>
                        <m:rPr>
                          <m:sty m:val="p"/>
                        </m:rPr>
                        <a:rPr lang="vi-VN" i="1">
                          <a:latin typeface="Cambria Math" panose="02040503050406030204" pitchFamily="18" charset="0"/>
                        </a:rPr>
                        <m:t>A</m:t>
                      </m:r>
                      <m:r>
                        <a:rPr lang="vi-VN" b="0" i="1" smtClean="0">
                          <a:latin typeface="Cambria Math" panose="02040503050406030204" pitchFamily="18" charset="0"/>
                        </a:rPr>
                        <m:t>=</m:t>
                      </m:r>
                      <m:r>
                        <m:rPr>
                          <m:sty m:val="p"/>
                        </m:rPr>
                        <a:rPr lang="vi-VN" i="1">
                          <a:latin typeface="Cambria Math" panose="02040503050406030204" pitchFamily="18" charset="0"/>
                        </a:rPr>
                        <m:t>U</m:t>
                      </m:r>
                      <m:r>
                        <m:rPr>
                          <m:sty m:val="p"/>
                        </m:rPr>
                        <a:rPr lang="el-GR" i="1" smtClean="0">
                          <a:latin typeface="Cambria Math" panose="02040503050406030204" pitchFamily="18" charset="0"/>
                          <a:ea typeface="Cambria Math" panose="02040503050406030204" pitchFamily="18" charset="0"/>
                        </a:rPr>
                        <m:t>Σ</m:t>
                      </m:r>
                      <m:sSup>
                        <m:sSupPr>
                          <m:ctrlPr>
                            <a:rPr lang="el-GR" i="1" smtClean="0">
                              <a:latin typeface="Cambria Math" panose="02040503050406030204" pitchFamily="18" charset="0"/>
                              <a:ea typeface="Cambria Math" panose="02040503050406030204" pitchFamily="18" charset="0"/>
                            </a:rPr>
                          </m:ctrlPr>
                        </m:sSupPr>
                        <m:e>
                          <m:r>
                            <m:rPr>
                              <m:sty m:val="p"/>
                            </m:rPr>
                            <a:rPr lang="vi-VN" i="1">
                              <a:latin typeface="Cambria Math" panose="02040503050406030204" pitchFamily="18" charset="0"/>
                              <a:ea typeface="Cambria Math" panose="02040503050406030204" pitchFamily="18" charset="0"/>
                            </a:rPr>
                            <m:t>V</m:t>
                          </m:r>
                        </m:e>
                        <m:sup>
                          <m:r>
                            <m:rPr>
                              <m:sty m:val="p"/>
                            </m:rPr>
                            <a:rPr lang="vi-VN" i="1">
                              <a:latin typeface="Cambria Math" panose="02040503050406030204" pitchFamily="18" charset="0"/>
                              <a:ea typeface="Cambria Math" panose="02040503050406030204" pitchFamily="18" charset="0"/>
                            </a:rPr>
                            <m:t>T</m:t>
                          </m:r>
                        </m:sup>
                      </m:sSup>
                    </m:oMath>
                  </m:oMathPara>
                </a14:m>
                <a:endParaRPr lang="vi-VN"/>
              </a:p>
              <a:p>
                <a:pPr lvl="1"/>
                <a:r>
                  <a:rPr lang="vi-VN"/>
                  <a:t>Trong đó:</a:t>
                </a:r>
              </a:p>
              <a:p>
                <a:pPr lvl="2"/>
                <a14:m>
                  <m:oMath xmlns:m="http://schemas.openxmlformats.org/officeDocument/2006/math">
                    <m:r>
                      <m:rPr>
                        <m:sty m:val="p"/>
                      </m:rPr>
                      <a:rPr lang="vi-VN" i="1">
                        <a:latin typeface="Cambria Math" panose="02040503050406030204" pitchFamily="18" charset="0"/>
                      </a:rPr>
                      <m:t>U</m:t>
                    </m:r>
                    <m:r>
                      <a:rPr lang="vi-VN" b="0" i="1" smtClean="0">
                        <a:latin typeface="Cambria Math" panose="02040503050406030204" pitchFamily="18" charset="0"/>
                      </a:rPr>
                      <m:t>, </m:t>
                    </m:r>
                    <m:r>
                      <m:rPr>
                        <m:sty m:val="p"/>
                      </m:rPr>
                      <a:rPr lang="vi-VN" i="1">
                        <a:latin typeface="Cambria Math" panose="02040503050406030204" pitchFamily="18" charset="0"/>
                      </a:rPr>
                      <m:t>V</m:t>
                    </m:r>
                  </m:oMath>
                </a14:m>
                <a:r>
                  <a:rPr lang="vi-VN"/>
                  <a:t> là ma trận trực giao</a:t>
                </a:r>
              </a:p>
              <a:p>
                <a:pPr lvl="2"/>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Σ</m:t>
                    </m:r>
                  </m:oMath>
                </a14:m>
                <a:r>
                  <a:rPr lang="vi-VN"/>
                  <a:t> là ma trận đường chéo chứa các giá trị kỳ dị</a:t>
                </a:r>
              </a:p>
              <a:p>
                <a:pPr lvl="2"/>
                <a:endParaRPr lang="vi-VN"/>
              </a:p>
              <a:p>
                <a:pPr marL="0" indent="0">
                  <a:buNone/>
                </a:pPr>
                <a:endParaRPr lang="vi-VN"/>
              </a:p>
            </p:txBody>
          </p:sp>
        </mc:Choice>
        <mc:Fallback>
          <p:sp>
            <p:nvSpPr>
              <p:cNvPr id="7" name="Content Placeholder 6">
                <a:extLst>
                  <a:ext uri="{FF2B5EF4-FFF2-40B4-BE49-F238E27FC236}">
                    <a16:creationId xmlns:a16="http://schemas.microsoft.com/office/drawing/2014/main" id="{6979AF9D-5C22-0491-3B12-10B1E5D229D2}"/>
                  </a:ext>
                </a:extLst>
              </p:cNvPr>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vi-VN">
                    <a:noFill/>
                  </a:rPr>
                  <a:t> </a:t>
                </a:r>
              </a:p>
            </p:txBody>
          </p:sp>
        </mc:Fallback>
      </mc:AlternateContent>
      <p:sp>
        <p:nvSpPr>
          <p:cNvPr id="2" name="Slide Number Placeholder 1">
            <a:extLst>
              <a:ext uri="{FF2B5EF4-FFF2-40B4-BE49-F238E27FC236}">
                <a16:creationId xmlns:a16="http://schemas.microsoft.com/office/drawing/2014/main" id="{1EAE213F-D976-40B4-07E7-F5DCCA5C76EA}"/>
              </a:ext>
            </a:extLst>
          </p:cNvPr>
          <p:cNvSpPr>
            <a:spLocks noGrp="1"/>
          </p:cNvSpPr>
          <p:nvPr>
            <p:ph type="sldNum" sz="quarter" idx="12"/>
          </p:nvPr>
        </p:nvSpPr>
        <p:spPr/>
        <p:txBody>
          <a:bodyPr/>
          <a:lstStyle/>
          <a:p>
            <a:fld id="{CBF310FD-C090-4C3A-AF23-E809F51E0484}" type="slidenum">
              <a:rPr lang="vi-VN" smtClean="0"/>
              <a:t>9</a:t>
            </a:fld>
            <a:endParaRPr lang="vi-VN"/>
          </a:p>
        </p:txBody>
      </p:sp>
    </p:spTree>
    <p:extLst>
      <p:ext uri="{BB962C8B-B14F-4D97-AF65-F5344CB8AC3E}">
        <p14:creationId xmlns:p14="http://schemas.microsoft.com/office/powerpoint/2010/main" val="321719859"/>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BC664-63CC-1309-B99F-7AB4903120A5}"/>
              </a:ext>
            </a:extLst>
          </p:cNvPr>
          <p:cNvSpPr>
            <a:spLocks noGrp="1"/>
          </p:cNvSpPr>
          <p:nvPr>
            <p:ph type="title"/>
          </p:nvPr>
        </p:nvSpPr>
        <p:spPr/>
        <p:txBody>
          <a:bodyPr/>
          <a:lstStyle/>
          <a:p>
            <a:r>
              <a:rPr lang="vi-VN"/>
              <a:t>II. Cơ sở lý thuyết</a:t>
            </a:r>
          </a:p>
        </p:txBody>
      </p:sp>
      <p:pic>
        <p:nvPicPr>
          <p:cNvPr id="5" name="Content Placeholder 4">
            <a:extLst>
              <a:ext uri="{FF2B5EF4-FFF2-40B4-BE49-F238E27FC236}">
                <a16:creationId xmlns:a16="http://schemas.microsoft.com/office/drawing/2014/main" id="{7F48FC14-D397-A024-9788-44EE496770CE}"/>
              </a:ext>
            </a:extLst>
          </p:cNvPr>
          <p:cNvPicPr>
            <a:picLocks noGrp="1" noChangeAspect="1"/>
          </p:cNvPicPr>
          <p:nvPr>
            <p:ph idx="1"/>
          </p:nvPr>
        </p:nvPicPr>
        <p:blipFill>
          <a:blip r:embed="rId2"/>
          <a:stretch>
            <a:fillRect/>
          </a:stretch>
        </p:blipFill>
        <p:spPr>
          <a:xfrm>
            <a:off x="838200" y="2036317"/>
            <a:ext cx="10515600" cy="2785365"/>
          </a:xfrm>
          <a:prstGeom prst="rect">
            <a:avLst/>
          </a:prstGeom>
        </p:spPr>
      </p:pic>
      <p:sp>
        <p:nvSpPr>
          <p:cNvPr id="3" name="Slide Number Placeholder 2">
            <a:extLst>
              <a:ext uri="{FF2B5EF4-FFF2-40B4-BE49-F238E27FC236}">
                <a16:creationId xmlns:a16="http://schemas.microsoft.com/office/drawing/2014/main" id="{7B783189-3FC0-BD4D-F822-A427C2E1792B}"/>
              </a:ext>
            </a:extLst>
          </p:cNvPr>
          <p:cNvSpPr>
            <a:spLocks noGrp="1"/>
          </p:cNvSpPr>
          <p:nvPr>
            <p:ph type="sldNum" sz="quarter" idx="12"/>
          </p:nvPr>
        </p:nvSpPr>
        <p:spPr/>
        <p:txBody>
          <a:bodyPr/>
          <a:lstStyle/>
          <a:p>
            <a:fld id="{CBF310FD-C090-4C3A-AF23-E809F51E0484}" type="slidenum">
              <a:rPr lang="vi-VN" smtClean="0"/>
              <a:t>10</a:t>
            </a:fld>
            <a:endParaRPr lang="vi-VN"/>
          </a:p>
        </p:txBody>
      </p:sp>
    </p:spTree>
    <p:extLst>
      <p:ext uri="{BB962C8B-B14F-4D97-AF65-F5344CB8AC3E}">
        <p14:creationId xmlns:p14="http://schemas.microsoft.com/office/powerpoint/2010/main" val="2909868621"/>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7C46F-B3C0-8987-8D97-4FF2C3F022BE}"/>
              </a:ext>
            </a:extLst>
          </p:cNvPr>
          <p:cNvSpPr>
            <a:spLocks noGrp="1"/>
          </p:cNvSpPr>
          <p:nvPr>
            <p:ph type="title"/>
          </p:nvPr>
        </p:nvSpPr>
        <p:spPr/>
        <p:txBody>
          <a:bodyPr/>
          <a:lstStyle/>
          <a:p>
            <a:r>
              <a:rPr lang="vi-VN"/>
              <a:t>II. Cơ sở lý thuyết</a:t>
            </a:r>
          </a:p>
        </p:txBody>
      </p:sp>
      <p:sp>
        <p:nvSpPr>
          <p:cNvPr id="3" name="Content Placeholder 2">
            <a:extLst>
              <a:ext uri="{FF2B5EF4-FFF2-40B4-BE49-F238E27FC236}">
                <a16:creationId xmlns:a16="http://schemas.microsoft.com/office/drawing/2014/main" id="{BF764C04-8126-1082-CE36-B84B9A6EBAA9}"/>
              </a:ext>
            </a:extLst>
          </p:cNvPr>
          <p:cNvSpPr>
            <a:spLocks noGrp="1"/>
          </p:cNvSpPr>
          <p:nvPr>
            <p:ph idx="1"/>
          </p:nvPr>
        </p:nvSpPr>
        <p:spPr/>
        <p:txBody>
          <a:bodyPr/>
          <a:lstStyle/>
          <a:p>
            <a:r>
              <a:rPr lang="vi-VN" b="1"/>
              <a:t>Phương pháp giảm chuẩn Jacobi</a:t>
            </a:r>
            <a:r>
              <a:rPr lang="vi-VN"/>
              <a:t>: Là một biến thể mở rộng của phương pháp Jacobi cổ điển, được thiết kế để giải quyết bài toán trị riêng cho các ma trận tổng quát</a:t>
            </a:r>
          </a:p>
          <a:p>
            <a:endParaRPr lang="vi-VN"/>
          </a:p>
        </p:txBody>
      </p:sp>
      <p:sp>
        <p:nvSpPr>
          <p:cNvPr id="4" name="Slide Number Placeholder 3">
            <a:extLst>
              <a:ext uri="{FF2B5EF4-FFF2-40B4-BE49-F238E27FC236}">
                <a16:creationId xmlns:a16="http://schemas.microsoft.com/office/drawing/2014/main" id="{C9D574A2-E764-8BAF-60D8-298A43F581F4}"/>
              </a:ext>
            </a:extLst>
          </p:cNvPr>
          <p:cNvSpPr>
            <a:spLocks noGrp="1"/>
          </p:cNvSpPr>
          <p:nvPr>
            <p:ph type="sldNum" sz="quarter" idx="12"/>
          </p:nvPr>
        </p:nvSpPr>
        <p:spPr/>
        <p:txBody>
          <a:bodyPr/>
          <a:lstStyle/>
          <a:p>
            <a:fld id="{CBF310FD-C090-4C3A-AF23-E809F51E0484}" type="slidenum">
              <a:rPr lang="vi-VN" smtClean="0"/>
              <a:t>11</a:t>
            </a:fld>
            <a:endParaRPr lang="vi-VN"/>
          </a:p>
        </p:txBody>
      </p:sp>
    </p:spTree>
    <p:extLst>
      <p:ext uri="{BB962C8B-B14F-4D97-AF65-F5344CB8AC3E}">
        <p14:creationId xmlns:p14="http://schemas.microsoft.com/office/powerpoint/2010/main" val="647111919"/>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DE0FA-4AC4-21C1-ECC9-90D0E838F74C}"/>
              </a:ext>
            </a:extLst>
          </p:cNvPr>
          <p:cNvSpPr>
            <a:spLocks noGrp="1"/>
          </p:cNvSpPr>
          <p:nvPr>
            <p:ph type="title"/>
          </p:nvPr>
        </p:nvSpPr>
        <p:spPr/>
        <p:txBody>
          <a:bodyPr/>
          <a:lstStyle/>
          <a:p>
            <a:r>
              <a:rPr lang="vi-VN"/>
              <a:t>II. Cơ sở lý thuyết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269E788-70E3-815F-9C9A-3DD727B28A02}"/>
                  </a:ext>
                </a:extLst>
              </p:cNvPr>
              <p:cNvSpPr>
                <a:spLocks noGrp="1"/>
              </p:cNvSpPr>
              <p:nvPr>
                <p:ph idx="1"/>
              </p:nvPr>
            </p:nvSpPr>
            <p:spPr/>
            <p:txBody>
              <a:bodyPr/>
              <a:lstStyle/>
              <a:p>
                <a:r>
                  <a:rPr lang="vi-VN" b="1"/>
                  <a:t>Nguyên lý</a:t>
                </a:r>
                <a:r>
                  <a:rPr lang="vi-VN"/>
                  <a:t>: Thực hiện các phép biến đổi tương tự. Tại bước thứ </a:t>
                </a:r>
                <a14:m>
                  <m:oMath xmlns:m="http://schemas.openxmlformats.org/officeDocument/2006/math">
                    <m:r>
                      <m:rPr>
                        <m:sty m:val="p"/>
                      </m:rPr>
                      <a:rPr lang="vi-VN">
                        <a:latin typeface="Cambria Math" panose="02040503050406030204" pitchFamily="18" charset="0"/>
                      </a:rPr>
                      <m:t>k</m:t>
                    </m:r>
                  </m:oMath>
                </a14:m>
                <a:r>
                  <a:rPr lang="vi-VN"/>
                  <a:t>, ma trận </a:t>
                </a:r>
                <a14:m>
                  <m:oMath xmlns:m="http://schemas.openxmlformats.org/officeDocument/2006/math">
                    <m:sSub>
                      <m:sSubPr>
                        <m:ctrlPr>
                          <a:rPr lang="vi-VN" b="0" i="1" smtClean="0">
                            <a:latin typeface="Cambria Math" panose="02040503050406030204" pitchFamily="18" charset="0"/>
                          </a:rPr>
                        </m:ctrlPr>
                      </m:sSubPr>
                      <m:e>
                        <m:r>
                          <m:rPr>
                            <m:sty m:val="p"/>
                          </m:rPr>
                          <a:rPr lang="vi-VN" i="1">
                            <a:latin typeface="Cambria Math" panose="02040503050406030204" pitchFamily="18" charset="0"/>
                          </a:rPr>
                          <m:t>M</m:t>
                        </m:r>
                      </m:e>
                      <m:sub>
                        <m:r>
                          <m:rPr>
                            <m:sty m:val="p"/>
                          </m:rPr>
                          <a:rPr lang="vi-VN" i="1">
                            <a:latin typeface="Cambria Math" panose="02040503050406030204" pitchFamily="18" charset="0"/>
                          </a:rPr>
                          <m:t>k</m:t>
                        </m:r>
                        <m:r>
                          <a:rPr lang="vi-VN" b="0" i="1" smtClean="0">
                            <a:latin typeface="Cambria Math" panose="02040503050406030204" pitchFamily="18" charset="0"/>
                          </a:rPr>
                          <m:t>+</m:t>
                        </m:r>
                        <m:r>
                          <a:rPr lang="vi-VN" i="1">
                            <a:latin typeface="Cambria Math" panose="02040503050406030204" pitchFamily="18" charset="0"/>
                          </a:rPr>
                          <m:t>1</m:t>
                        </m:r>
                      </m:sub>
                    </m:sSub>
                  </m:oMath>
                </a14:m>
                <a:r>
                  <a:rPr lang="vi-VN"/>
                  <a:t> được tính theo công thức</a:t>
                </a:r>
              </a:p>
              <a:p>
                <a:pPr marL="0" indent="0">
                  <a:buNone/>
                </a:pPr>
                <a14:m>
                  <m:oMathPara xmlns:m="http://schemas.openxmlformats.org/officeDocument/2006/math">
                    <m:oMathParaPr>
                      <m:jc m:val="centerGroup"/>
                    </m:oMathParaPr>
                    <m:oMath xmlns:m="http://schemas.openxmlformats.org/officeDocument/2006/math">
                      <m:sSub>
                        <m:sSubPr>
                          <m:ctrlPr>
                            <a:rPr lang="vi-VN" i="1" smtClean="0">
                              <a:latin typeface="Cambria Math" panose="02040503050406030204" pitchFamily="18" charset="0"/>
                            </a:rPr>
                          </m:ctrlPr>
                        </m:sSubPr>
                        <m:e>
                          <m:r>
                            <m:rPr>
                              <m:sty m:val="p"/>
                            </m:rPr>
                            <a:rPr lang="vi-VN" i="1">
                              <a:latin typeface="Cambria Math" panose="02040503050406030204" pitchFamily="18" charset="0"/>
                            </a:rPr>
                            <m:t>M</m:t>
                          </m:r>
                        </m:e>
                        <m:sub>
                          <m:r>
                            <m:rPr>
                              <m:sty m:val="p"/>
                            </m:rPr>
                            <a:rPr lang="vi-VN" i="1">
                              <a:latin typeface="Cambria Math" panose="02040503050406030204" pitchFamily="18" charset="0"/>
                            </a:rPr>
                            <m:t>k</m:t>
                          </m:r>
                          <m:r>
                            <a:rPr lang="vi-VN" b="0" i="1" smtClean="0">
                              <a:latin typeface="Cambria Math" panose="02040503050406030204" pitchFamily="18" charset="0"/>
                            </a:rPr>
                            <m:t>+</m:t>
                          </m:r>
                          <m:r>
                            <a:rPr lang="vi-VN" i="1">
                              <a:latin typeface="Cambria Math" panose="02040503050406030204" pitchFamily="18" charset="0"/>
                            </a:rPr>
                            <m:t>1</m:t>
                          </m:r>
                        </m:sub>
                      </m:sSub>
                      <m:r>
                        <a:rPr lang="vi-VN" b="0" i="1" smtClean="0">
                          <a:latin typeface="Cambria Math" panose="02040503050406030204" pitchFamily="18" charset="0"/>
                        </a:rPr>
                        <m:t>=</m:t>
                      </m:r>
                      <m:sSubSup>
                        <m:sSubSupPr>
                          <m:ctrlPr>
                            <a:rPr lang="vi-VN" b="0" i="1" smtClean="0">
                              <a:latin typeface="Cambria Math" panose="02040503050406030204" pitchFamily="18" charset="0"/>
                            </a:rPr>
                          </m:ctrlPr>
                        </m:sSubSupPr>
                        <m:e>
                          <m:r>
                            <m:rPr>
                              <m:sty m:val="p"/>
                            </m:rPr>
                            <a:rPr lang="vi-VN" i="1">
                              <a:latin typeface="Cambria Math" panose="02040503050406030204" pitchFamily="18" charset="0"/>
                            </a:rPr>
                            <m:t>T</m:t>
                          </m:r>
                        </m:e>
                        <m:sub>
                          <m:r>
                            <m:rPr>
                              <m:sty m:val="p"/>
                            </m:rPr>
                            <a:rPr lang="vi-VN" i="1">
                              <a:latin typeface="Cambria Math" panose="02040503050406030204" pitchFamily="18" charset="0"/>
                            </a:rPr>
                            <m:t>k</m:t>
                          </m:r>
                        </m:sub>
                        <m:sup>
                          <m:r>
                            <a:rPr lang="vi-VN" b="0" i="1" smtClean="0">
                              <a:latin typeface="Cambria Math" panose="02040503050406030204" pitchFamily="18" charset="0"/>
                            </a:rPr>
                            <m:t>−</m:t>
                          </m:r>
                          <m:r>
                            <a:rPr lang="vi-VN" i="1">
                              <a:latin typeface="Cambria Math" panose="02040503050406030204" pitchFamily="18" charset="0"/>
                            </a:rPr>
                            <m:t>1</m:t>
                          </m:r>
                        </m:sup>
                      </m:sSubSup>
                      <m:sSub>
                        <m:sSubPr>
                          <m:ctrlPr>
                            <a:rPr lang="vi-VN" b="0" i="1" smtClean="0">
                              <a:latin typeface="Cambria Math" panose="02040503050406030204" pitchFamily="18" charset="0"/>
                            </a:rPr>
                          </m:ctrlPr>
                        </m:sSubPr>
                        <m:e>
                          <m:r>
                            <m:rPr>
                              <m:sty m:val="p"/>
                            </m:rPr>
                            <a:rPr lang="vi-VN" i="1">
                              <a:latin typeface="Cambria Math" panose="02040503050406030204" pitchFamily="18" charset="0"/>
                            </a:rPr>
                            <m:t>M</m:t>
                          </m:r>
                        </m:e>
                        <m:sub>
                          <m:r>
                            <m:rPr>
                              <m:sty m:val="p"/>
                            </m:rPr>
                            <a:rPr lang="vi-VN" i="1">
                              <a:latin typeface="Cambria Math" panose="02040503050406030204" pitchFamily="18" charset="0"/>
                            </a:rPr>
                            <m:t>k</m:t>
                          </m:r>
                        </m:sub>
                      </m:sSub>
                      <m:sSub>
                        <m:sSubPr>
                          <m:ctrlPr>
                            <a:rPr lang="vi-VN" b="0" i="1" smtClean="0">
                              <a:latin typeface="Cambria Math" panose="02040503050406030204" pitchFamily="18" charset="0"/>
                            </a:rPr>
                          </m:ctrlPr>
                        </m:sSubPr>
                        <m:e>
                          <m:r>
                            <m:rPr>
                              <m:sty m:val="p"/>
                            </m:rPr>
                            <a:rPr lang="vi-VN" i="1">
                              <a:latin typeface="Cambria Math" panose="02040503050406030204" pitchFamily="18" charset="0"/>
                            </a:rPr>
                            <m:t>T</m:t>
                          </m:r>
                        </m:e>
                        <m:sub>
                          <m:r>
                            <m:rPr>
                              <m:sty m:val="p"/>
                            </m:rPr>
                            <a:rPr lang="vi-VN" i="1">
                              <a:latin typeface="Cambria Math" panose="02040503050406030204" pitchFamily="18" charset="0"/>
                            </a:rPr>
                            <m:t>k</m:t>
                          </m:r>
                        </m:sub>
                      </m:sSub>
                    </m:oMath>
                  </m:oMathPara>
                </a14:m>
                <a:endParaRPr lang="vi-VN"/>
              </a:p>
              <a:p>
                <a:r>
                  <a:rPr lang="vi-VN"/>
                  <a:t>Trong đó </a:t>
                </a:r>
                <a14:m>
                  <m:oMath xmlns:m="http://schemas.openxmlformats.org/officeDocument/2006/math">
                    <m:sSub>
                      <m:sSubPr>
                        <m:ctrlPr>
                          <a:rPr lang="vi-VN" b="0" i="1" smtClean="0">
                            <a:latin typeface="Cambria Math" panose="02040503050406030204" pitchFamily="18" charset="0"/>
                          </a:rPr>
                        </m:ctrlPr>
                      </m:sSubPr>
                      <m:e>
                        <m:r>
                          <m:rPr>
                            <m:sty m:val="p"/>
                          </m:rPr>
                          <a:rPr lang="vi-VN" i="1">
                            <a:latin typeface="Cambria Math" panose="02040503050406030204" pitchFamily="18" charset="0"/>
                          </a:rPr>
                          <m:t>T</m:t>
                        </m:r>
                      </m:e>
                      <m:sub>
                        <m:r>
                          <m:rPr>
                            <m:sty m:val="p"/>
                          </m:rPr>
                          <a:rPr lang="vi-VN" i="1">
                            <a:latin typeface="Cambria Math" panose="02040503050406030204" pitchFamily="18" charset="0"/>
                          </a:rPr>
                          <m:t>k</m:t>
                        </m:r>
                      </m:sub>
                    </m:sSub>
                    <m:r>
                      <a:rPr lang="vi-VN" b="0" i="1" smtClean="0">
                        <a:latin typeface="Cambria Math" panose="02040503050406030204" pitchFamily="18" charset="0"/>
                      </a:rPr>
                      <m:t> </m:t>
                    </m:r>
                    <m:r>
                      <m:rPr>
                        <m:sty m:val="p"/>
                      </m:rPr>
                      <a:rPr lang="vi-VN" i="1">
                        <a:latin typeface="Cambria Math" panose="02040503050406030204" pitchFamily="18" charset="0"/>
                      </a:rPr>
                      <m:t>l</m:t>
                    </m:r>
                    <m:r>
                      <a:rPr lang="vi-VN" i="1">
                        <a:latin typeface="Cambria Math" panose="02040503050406030204" pitchFamily="18" charset="0"/>
                      </a:rPr>
                      <m:t>à</m:t>
                    </m:r>
                  </m:oMath>
                </a14:m>
                <a:r>
                  <a:rPr lang="vi-VN"/>
                  <a:t> biến đổi khả nghịch sao cho:</a:t>
                </a:r>
              </a:p>
              <a:p>
                <a:pPr marL="0" indent="0">
                  <a:buNone/>
                </a:pPr>
                <a14:m>
                  <m:oMathPara xmlns:m="http://schemas.openxmlformats.org/officeDocument/2006/math">
                    <m:oMathParaPr>
                      <m:jc m:val="centerGroup"/>
                    </m:oMathParaPr>
                    <m:oMath xmlns:m="http://schemas.openxmlformats.org/officeDocument/2006/math">
                      <m:sSub>
                        <m:sSubPr>
                          <m:ctrlPr>
                            <a:rPr lang="vi-VN" i="1" smtClean="0">
                              <a:latin typeface="Cambria Math" panose="02040503050406030204" pitchFamily="18" charset="0"/>
                            </a:rPr>
                          </m:ctrlPr>
                        </m:sSubPr>
                        <m:e>
                          <m:d>
                            <m:dPr>
                              <m:begChr m:val="‖"/>
                              <m:endChr m:val="‖"/>
                              <m:ctrlPr>
                                <a:rPr lang="vi-VN" i="1" smtClean="0">
                                  <a:latin typeface="Cambria Math" panose="02040503050406030204" pitchFamily="18" charset="0"/>
                                </a:rPr>
                              </m:ctrlPr>
                            </m:dPr>
                            <m:e>
                              <m:sSub>
                                <m:sSubPr>
                                  <m:ctrlPr>
                                    <a:rPr lang="vi-VN" i="1" smtClean="0">
                                      <a:latin typeface="Cambria Math" panose="02040503050406030204" pitchFamily="18" charset="0"/>
                                    </a:rPr>
                                  </m:ctrlPr>
                                </m:sSubPr>
                                <m:e>
                                  <m:r>
                                    <m:rPr>
                                      <m:sty m:val="p"/>
                                    </m:rPr>
                                    <a:rPr lang="vi-VN" i="1">
                                      <a:latin typeface="Cambria Math" panose="02040503050406030204" pitchFamily="18" charset="0"/>
                                    </a:rPr>
                                    <m:t>M</m:t>
                                  </m:r>
                                </m:e>
                                <m:sub>
                                  <m:r>
                                    <m:rPr>
                                      <m:sty m:val="p"/>
                                    </m:rPr>
                                    <a:rPr lang="vi-VN" i="1">
                                      <a:latin typeface="Cambria Math" panose="02040503050406030204" pitchFamily="18" charset="0"/>
                                    </a:rPr>
                                    <m:t>k</m:t>
                                  </m:r>
                                  <m:r>
                                    <a:rPr lang="vi-VN" b="0" i="1" smtClean="0">
                                      <a:latin typeface="Cambria Math" panose="02040503050406030204" pitchFamily="18" charset="0"/>
                                    </a:rPr>
                                    <m:t>+</m:t>
                                  </m:r>
                                  <m:r>
                                    <a:rPr lang="vi-VN" i="1">
                                      <a:latin typeface="Cambria Math" panose="02040503050406030204" pitchFamily="18" charset="0"/>
                                    </a:rPr>
                                    <m:t>1</m:t>
                                  </m:r>
                                </m:sub>
                              </m:sSub>
                            </m:e>
                          </m:d>
                        </m:e>
                        <m:sub>
                          <m:r>
                            <m:rPr>
                              <m:sty m:val="p"/>
                            </m:rPr>
                            <a:rPr lang="vi-VN" i="1">
                              <a:latin typeface="Cambria Math" panose="02040503050406030204" pitchFamily="18" charset="0"/>
                            </a:rPr>
                            <m:t>F</m:t>
                          </m:r>
                        </m:sub>
                      </m:sSub>
                      <m:r>
                        <a:rPr lang="vi-VN" i="1" smtClean="0">
                          <a:latin typeface="Cambria Math" panose="02040503050406030204" pitchFamily="18" charset="0"/>
                          <a:ea typeface="Cambria Math" panose="02040503050406030204" pitchFamily="18" charset="0"/>
                        </a:rPr>
                        <m:t>≤</m:t>
                      </m:r>
                      <m:sSub>
                        <m:sSubPr>
                          <m:ctrlPr>
                            <a:rPr lang="vi-VN" i="1" smtClean="0">
                              <a:latin typeface="Cambria Math" panose="02040503050406030204" pitchFamily="18" charset="0"/>
                            </a:rPr>
                          </m:ctrlPr>
                        </m:sSubPr>
                        <m:e>
                          <m:d>
                            <m:dPr>
                              <m:begChr m:val="‖"/>
                              <m:endChr m:val="‖"/>
                              <m:ctrlPr>
                                <a:rPr lang="vi-VN" i="1" smtClean="0">
                                  <a:latin typeface="Cambria Math" panose="02040503050406030204" pitchFamily="18" charset="0"/>
                                </a:rPr>
                              </m:ctrlPr>
                            </m:dPr>
                            <m:e>
                              <m:sSub>
                                <m:sSubPr>
                                  <m:ctrlPr>
                                    <a:rPr lang="vi-VN" i="1" smtClean="0">
                                      <a:latin typeface="Cambria Math" panose="02040503050406030204" pitchFamily="18" charset="0"/>
                                    </a:rPr>
                                  </m:ctrlPr>
                                </m:sSubPr>
                                <m:e>
                                  <m:r>
                                    <m:rPr>
                                      <m:sty m:val="p"/>
                                    </m:rPr>
                                    <a:rPr lang="vi-VN" i="1">
                                      <a:latin typeface="Cambria Math" panose="02040503050406030204" pitchFamily="18" charset="0"/>
                                    </a:rPr>
                                    <m:t>M</m:t>
                                  </m:r>
                                </m:e>
                                <m:sub>
                                  <m:r>
                                    <m:rPr>
                                      <m:sty m:val="p"/>
                                    </m:rPr>
                                    <a:rPr lang="vi-VN" i="1" smtClean="0">
                                      <a:latin typeface="Cambria Math" panose="02040503050406030204" pitchFamily="18" charset="0"/>
                                    </a:rPr>
                                    <m:t>k</m:t>
                                  </m:r>
                                </m:sub>
                              </m:sSub>
                            </m:e>
                          </m:d>
                        </m:e>
                        <m:sub>
                          <m:r>
                            <m:rPr>
                              <m:sty m:val="p"/>
                            </m:rPr>
                            <a:rPr lang="vi-VN" i="1">
                              <a:latin typeface="Cambria Math" panose="02040503050406030204" pitchFamily="18" charset="0"/>
                            </a:rPr>
                            <m:t>F</m:t>
                          </m:r>
                        </m:sub>
                      </m:sSub>
                    </m:oMath>
                  </m:oMathPara>
                </a14:m>
                <a:endParaRPr lang="vi-VN"/>
              </a:p>
              <a:p>
                <a:endParaRPr lang="vi-VN"/>
              </a:p>
            </p:txBody>
          </p:sp>
        </mc:Choice>
        <mc:Fallback>
          <p:sp>
            <p:nvSpPr>
              <p:cNvPr id="3" name="Content Placeholder 2">
                <a:extLst>
                  <a:ext uri="{FF2B5EF4-FFF2-40B4-BE49-F238E27FC236}">
                    <a16:creationId xmlns:a16="http://schemas.microsoft.com/office/drawing/2014/main" id="{6269E788-70E3-815F-9C9A-3DD727B28A02}"/>
                  </a:ext>
                </a:extLst>
              </p:cNvPr>
              <p:cNvSpPr>
                <a:spLocks noGrp="1" noRot="1" noChangeAspect="1" noMove="1" noResize="1" noEditPoints="1" noAdjustHandles="1" noChangeArrowheads="1" noChangeShapeType="1" noTextEdit="1"/>
              </p:cNvSpPr>
              <p:nvPr>
                <p:ph idx="1"/>
              </p:nvPr>
            </p:nvSpPr>
            <p:spPr>
              <a:blipFill>
                <a:blip r:embed="rId2"/>
                <a:stretch>
                  <a:fillRect l="-1043" r="-406"/>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E632C58B-79DF-1519-B998-FAEFFAE647B8}"/>
              </a:ext>
            </a:extLst>
          </p:cNvPr>
          <p:cNvSpPr>
            <a:spLocks noGrp="1"/>
          </p:cNvSpPr>
          <p:nvPr>
            <p:ph type="sldNum" sz="quarter" idx="12"/>
          </p:nvPr>
        </p:nvSpPr>
        <p:spPr/>
        <p:txBody>
          <a:bodyPr/>
          <a:lstStyle/>
          <a:p>
            <a:fld id="{CBF310FD-C090-4C3A-AF23-E809F51E0484}" type="slidenum">
              <a:rPr lang="vi-VN" smtClean="0"/>
              <a:t>12</a:t>
            </a:fld>
            <a:endParaRPr lang="vi-VN"/>
          </a:p>
        </p:txBody>
      </p:sp>
    </p:spTree>
    <p:extLst>
      <p:ext uri="{BB962C8B-B14F-4D97-AF65-F5344CB8AC3E}">
        <p14:creationId xmlns:p14="http://schemas.microsoft.com/office/powerpoint/2010/main" val="2905165346"/>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A5438-75CA-B404-548F-57AB098595E8}"/>
              </a:ext>
            </a:extLst>
          </p:cNvPr>
          <p:cNvSpPr>
            <a:spLocks noGrp="1"/>
          </p:cNvSpPr>
          <p:nvPr>
            <p:ph type="title"/>
          </p:nvPr>
        </p:nvSpPr>
        <p:spPr/>
        <p:txBody>
          <a:bodyPr/>
          <a:lstStyle/>
          <a:p>
            <a:r>
              <a:rPr lang="vi-VN"/>
              <a:t>II. Cơ sở lý thuyết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1532AB1-2CA0-F707-C866-6CCBFD0CE4F5}"/>
                  </a:ext>
                </a:extLst>
              </p:cNvPr>
              <p:cNvSpPr>
                <a:spLocks noGrp="1"/>
              </p:cNvSpPr>
              <p:nvPr>
                <p:ph idx="1"/>
              </p:nvPr>
            </p:nvSpPr>
            <p:spPr/>
            <p:txBody>
              <a:bodyPr/>
              <a:lstStyle/>
              <a:p>
                <a:r>
                  <a:rPr lang="vi-VN"/>
                  <a:t>Các phép biến đổi </a:t>
                </a:r>
                <a14:m>
                  <m:oMath xmlns:m="http://schemas.openxmlformats.org/officeDocument/2006/math">
                    <m:sSub>
                      <m:sSubPr>
                        <m:ctrlPr>
                          <a:rPr lang="vi-VN" i="1" smtClean="0">
                            <a:latin typeface="Cambria Math" panose="02040503050406030204" pitchFamily="18" charset="0"/>
                          </a:rPr>
                        </m:ctrlPr>
                      </m:sSubPr>
                      <m:e>
                        <m:r>
                          <m:rPr>
                            <m:sty m:val="p"/>
                          </m:rPr>
                          <a:rPr lang="vi-VN" i="1">
                            <a:latin typeface="Cambria Math" panose="02040503050406030204" pitchFamily="18" charset="0"/>
                          </a:rPr>
                          <m:t>T</m:t>
                        </m:r>
                      </m:e>
                      <m:sub>
                        <m:r>
                          <m:rPr>
                            <m:sty m:val="p"/>
                          </m:rPr>
                          <a:rPr lang="vi-VN" i="1">
                            <a:latin typeface="Cambria Math" panose="02040503050406030204" pitchFamily="18" charset="0"/>
                          </a:rPr>
                          <m:t>k</m:t>
                        </m:r>
                      </m:sub>
                    </m:sSub>
                  </m:oMath>
                </a14:m>
                <a:r>
                  <a:rPr lang="vi-VN"/>
                  <a:t> thường là sự kết hợp của các loại sau:</a:t>
                </a:r>
              </a:p>
              <a:p>
                <a:pPr lvl="1"/>
                <a:r>
                  <a:rPr lang="en-US" b="1"/>
                  <a:t>Phép quay đơn vị</a:t>
                </a:r>
                <a:r>
                  <a:rPr lang="en-US"/>
                  <a:t> (</a:t>
                </a:r>
                <a:r>
                  <a:rPr lang="en-US" i="1"/>
                  <a:t>Unitary Rotation</a:t>
                </a:r>
                <a:r>
                  <a:rPr lang="en-US"/>
                  <a:t>):</a:t>
                </a:r>
                <a:r>
                  <a:rPr lang="vi-VN"/>
                  <a:t> Tác động lên mặt phẳng </a:t>
                </a:r>
                <a14:m>
                  <m:oMath xmlns:m="http://schemas.openxmlformats.org/officeDocument/2006/math">
                    <m:d>
                      <m:dPr>
                        <m:ctrlPr>
                          <a:rPr lang="vi-VN" i="1" smtClean="0">
                            <a:latin typeface="Cambria Math" panose="02040503050406030204" pitchFamily="18" charset="0"/>
                          </a:rPr>
                        </m:ctrlPr>
                      </m:dPr>
                      <m:e>
                        <m:r>
                          <m:rPr>
                            <m:sty m:val="p"/>
                          </m:rPr>
                          <a:rPr lang="vi-VN" i="1">
                            <a:latin typeface="Cambria Math" panose="02040503050406030204" pitchFamily="18" charset="0"/>
                          </a:rPr>
                          <m:t>p</m:t>
                        </m:r>
                        <m:r>
                          <a:rPr lang="vi-VN" b="0" i="1" smtClean="0">
                            <a:latin typeface="Cambria Math" panose="02040503050406030204" pitchFamily="18" charset="0"/>
                          </a:rPr>
                          <m:t>,</m:t>
                        </m:r>
                        <m:r>
                          <m:rPr>
                            <m:sty m:val="p"/>
                          </m:rPr>
                          <a:rPr lang="vi-VN" i="1">
                            <a:latin typeface="Cambria Math" panose="02040503050406030204" pitchFamily="18" charset="0"/>
                          </a:rPr>
                          <m:t>q</m:t>
                        </m:r>
                      </m:e>
                    </m:d>
                  </m:oMath>
                </a14:m>
                <a:r>
                  <a:rPr lang="vi-VN"/>
                  <a:t> nhằm triệt tiêu phần tử </a:t>
                </a:r>
                <a14:m>
                  <m:oMath xmlns:m="http://schemas.openxmlformats.org/officeDocument/2006/math">
                    <m:sSub>
                      <m:sSubPr>
                        <m:ctrlPr>
                          <a:rPr lang="vi-VN" i="1" smtClean="0">
                            <a:latin typeface="Cambria Math" panose="02040503050406030204" pitchFamily="18" charset="0"/>
                          </a:rPr>
                        </m:ctrlPr>
                      </m:sSubPr>
                      <m:e>
                        <m:r>
                          <m:rPr>
                            <m:sty m:val="p"/>
                          </m:rPr>
                          <a:rPr lang="vi-VN" i="1">
                            <a:latin typeface="Cambria Math" panose="02040503050406030204" pitchFamily="18" charset="0"/>
                          </a:rPr>
                          <m:t>m</m:t>
                        </m:r>
                      </m:e>
                      <m:sub>
                        <m:r>
                          <m:rPr>
                            <m:sty m:val="p"/>
                          </m:rPr>
                          <a:rPr lang="vi-VN" i="1">
                            <a:latin typeface="Cambria Math" panose="02040503050406030204" pitchFamily="18" charset="0"/>
                          </a:rPr>
                          <m:t>pq</m:t>
                        </m:r>
                      </m:sub>
                    </m:sSub>
                  </m:oMath>
                </a14:m>
                <a:r>
                  <a:rPr lang="vi-VN"/>
                  <a:t> hoặc </a:t>
                </a:r>
                <a14:m>
                  <m:oMath xmlns:m="http://schemas.openxmlformats.org/officeDocument/2006/math">
                    <m:sSub>
                      <m:sSubPr>
                        <m:ctrlPr>
                          <a:rPr lang="vi-VN" i="1" smtClean="0">
                            <a:latin typeface="Cambria Math" panose="02040503050406030204" pitchFamily="18" charset="0"/>
                          </a:rPr>
                        </m:ctrlPr>
                      </m:sSubPr>
                      <m:e>
                        <m:r>
                          <m:rPr>
                            <m:sty m:val="p"/>
                          </m:rPr>
                          <a:rPr lang="vi-VN" i="1">
                            <a:latin typeface="Cambria Math" panose="02040503050406030204" pitchFamily="18" charset="0"/>
                          </a:rPr>
                          <m:t>m</m:t>
                        </m:r>
                      </m:e>
                      <m:sub>
                        <m:r>
                          <m:rPr>
                            <m:sty m:val="p"/>
                          </m:rPr>
                          <a:rPr lang="vi-VN" i="1">
                            <a:latin typeface="Cambria Math" panose="02040503050406030204" pitchFamily="18" charset="0"/>
                          </a:rPr>
                          <m:t>qp</m:t>
                        </m:r>
                      </m:sub>
                    </m:sSub>
                  </m:oMath>
                </a14:m>
                <a:endParaRPr lang="vi-VN"/>
              </a:p>
              <a:p>
                <a:pPr lvl="1"/>
                <a:r>
                  <a:rPr lang="vi-VN" b="1"/>
                  <a:t>Phép cắt </a:t>
                </a:r>
                <a:r>
                  <a:rPr lang="vi-VN"/>
                  <a:t>(</a:t>
                </a:r>
                <a:r>
                  <a:rPr lang="vi-VN" i="1"/>
                  <a:t>Shear Transformation</a:t>
                </a:r>
                <a:r>
                  <a:rPr lang="vi-VN"/>
                  <a:t>): Giảm chuẩn của ma trận giao hoán tử: </a:t>
                </a:r>
                <a14:m>
                  <m:oMath xmlns:m="http://schemas.openxmlformats.org/officeDocument/2006/math">
                    <m:r>
                      <a:rPr lang="vi-VN" i="1" smtClean="0">
                        <a:latin typeface="Cambria Math" panose="02040503050406030204" pitchFamily="18" charset="0"/>
                      </a:rPr>
                      <m:t>𝐶</m:t>
                    </m:r>
                    <m:r>
                      <a:rPr lang="vi-VN" b="0" i="1" smtClean="0">
                        <a:latin typeface="Cambria Math" panose="02040503050406030204" pitchFamily="18" charset="0"/>
                      </a:rPr>
                      <m:t>=</m:t>
                    </m:r>
                    <m:r>
                      <a:rPr lang="vi-VN" i="1">
                        <a:latin typeface="Cambria Math" panose="02040503050406030204" pitchFamily="18" charset="0"/>
                      </a:rPr>
                      <m:t>𝑀</m:t>
                    </m:r>
                    <m:sSup>
                      <m:sSupPr>
                        <m:ctrlPr>
                          <a:rPr lang="vi-VN" i="1" smtClean="0">
                            <a:latin typeface="Cambria Math" panose="02040503050406030204" pitchFamily="18" charset="0"/>
                          </a:rPr>
                        </m:ctrlPr>
                      </m:sSupPr>
                      <m:e>
                        <m:r>
                          <m:rPr>
                            <m:sty m:val="p"/>
                          </m:rPr>
                          <a:rPr lang="vi-VN" i="1">
                            <a:latin typeface="Cambria Math" panose="02040503050406030204" pitchFamily="18" charset="0"/>
                          </a:rPr>
                          <m:t>M</m:t>
                        </m:r>
                      </m:e>
                      <m:sup>
                        <m:r>
                          <a:rPr lang="vi-VN" b="0" i="1" smtClean="0">
                            <a:latin typeface="Cambria Math" panose="02040503050406030204" pitchFamily="18" charset="0"/>
                          </a:rPr>
                          <m:t>∗</m:t>
                        </m:r>
                      </m:sup>
                    </m:sSup>
                    <m:r>
                      <a:rPr lang="vi-VN" b="0" i="1" smtClean="0">
                        <a:latin typeface="Cambria Math" panose="02040503050406030204" pitchFamily="18" charset="0"/>
                      </a:rPr>
                      <m:t>−</m:t>
                    </m:r>
                    <m:sSup>
                      <m:sSupPr>
                        <m:ctrlPr>
                          <a:rPr lang="vi-VN" i="1" smtClean="0">
                            <a:latin typeface="Cambria Math" panose="02040503050406030204" pitchFamily="18" charset="0"/>
                          </a:rPr>
                        </m:ctrlPr>
                      </m:sSupPr>
                      <m:e>
                        <m:r>
                          <m:rPr>
                            <m:sty m:val="p"/>
                          </m:rPr>
                          <a:rPr lang="vi-VN" i="1">
                            <a:latin typeface="Cambria Math" panose="02040503050406030204" pitchFamily="18" charset="0"/>
                          </a:rPr>
                          <m:t>M</m:t>
                        </m:r>
                      </m:e>
                      <m:sup>
                        <m:r>
                          <a:rPr lang="vi-VN" b="0" i="1" smtClean="0">
                            <a:latin typeface="Cambria Math" panose="02040503050406030204" pitchFamily="18" charset="0"/>
                          </a:rPr>
                          <m:t>∗</m:t>
                        </m:r>
                      </m:sup>
                    </m:sSup>
                    <m:r>
                      <a:rPr lang="vi-VN" i="1">
                        <a:latin typeface="Cambria Math" panose="02040503050406030204" pitchFamily="18" charset="0"/>
                      </a:rPr>
                      <m:t>𝑀</m:t>
                    </m:r>
                  </m:oMath>
                </a14:m>
                <a:endParaRPr lang="vi-VN"/>
              </a:p>
              <a:p>
                <a:pPr lvl="1"/>
                <a:r>
                  <a:rPr lang="fr-FR" b="1"/>
                  <a:t>Phép biến đổi chéo </a:t>
                </a:r>
                <a:r>
                  <a:rPr lang="fr-FR"/>
                  <a:t>(</a:t>
                </a:r>
                <a:r>
                  <a:rPr lang="fr-FR" i="1"/>
                  <a:t>Diagonal Tran</a:t>
                </a:r>
                <a:r>
                  <a:rPr lang="vi-VN" i="1"/>
                  <a:t>sformation</a:t>
                </a:r>
                <a:r>
                  <a:rPr lang="vi-VN"/>
                  <a:t>): Tác động các phần tử đường chéo để hỗ trợ giảm chuẩn</a:t>
                </a:r>
              </a:p>
            </p:txBody>
          </p:sp>
        </mc:Choice>
        <mc:Fallback>
          <p:sp>
            <p:nvSpPr>
              <p:cNvPr id="3" name="Content Placeholder 2">
                <a:extLst>
                  <a:ext uri="{FF2B5EF4-FFF2-40B4-BE49-F238E27FC236}">
                    <a16:creationId xmlns:a16="http://schemas.microsoft.com/office/drawing/2014/main" id="{51532AB1-2CA0-F707-C866-6CCBFD0CE4F5}"/>
                  </a:ext>
                </a:extLst>
              </p:cNvPr>
              <p:cNvSpPr>
                <a:spLocks noGrp="1" noRot="1" noChangeAspect="1" noMove="1" noResize="1" noEditPoints="1" noAdjustHandles="1" noChangeArrowheads="1" noChangeShapeType="1" noTextEdit="1"/>
              </p:cNvSpPr>
              <p:nvPr>
                <p:ph idx="1"/>
              </p:nvPr>
            </p:nvSpPr>
            <p:spPr>
              <a:blipFill>
                <a:blip r:embed="rId2"/>
                <a:stretch>
                  <a:fillRect l="-1043" r="-58"/>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123DAA18-FE1B-16FD-DB85-8D96DA1E3F35}"/>
              </a:ext>
            </a:extLst>
          </p:cNvPr>
          <p:cNvSpPr>
            <a:spLocks noGrp="1"/>
          </p:cNvSpPr>
          <p:nvPr>
            <p:ph type="sldNum" sz="quarter" idx="12"/>
          </p:nvPr>
        </p:nvSpPr>
        <p:spPr/>
        <p:txBody>
          <a:bodyPr/>
          <a:lstStyle/>
          <a:p>
            <a:fld id="{CBF310FD-C090-4C3A-AF23-E809F51E0484}" type="slidenum">
              <a:rPr lang="vi-VN" smtClean="0"/>
              <a:t>13</a:t>
            </a:fld>
            <a:endParaRPr lang="vi-VN"/>
          </a:p>
        </p:txBody>
      </p:sp>
    </p:spTree>
    <p:extLst>
      <p:ext uri="{BB962C8B-B14F-4D97-AF65-F5344CB8AC3E}">
        <p14:creationId xmlns:p14="http://schemas.microsoft.com/office/powerpoint/2010/main" val="81587624"/>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8195715-4EDF-328F-8CA2-AA38C798548F}"/>
              </a:ext>
            </a:extLst>
          </p:cNvPr>
          <p:cNvSpPr>
            <a:spLocks noGrp="1"/>
          </p:cNvSpPr>
          <p:nvPr>
            <p:ph type="title"/>
          </p:nvPr>
        </p:nvSpPr>
        <p:spPr/>
        <p:txBody>
          <a:bodyPr/>
          <a:lstStyle/>
          <a:p>
            <a:r>
              <a:rPr lang="vi-VN"/>
              <a:t>III. Phương pháp­</a:t>
            </a:r>
            <a:br>
              <a:rPr lang="vi-VN"/>
            </a:br>
            <a:r>
              <a:rPr lang="vi-VN"/>
              <a:t>song song hóa</a:t>
            </a:r>
          </a:p>
        </p:txBody>
      </p:sp>
      <p:sp>
        <p:nvSpPr>
          <p:cNvPr id="7" name="Text Placeholder 6">
            <a:extLst>
              <a:ext uri="{FF2B5EF4-FFF2-40B4-BE49-F238E27FC236}">
                <a16:creationId xmlns:a16="http://schemas.microsoft.com/office/drawing/2014/main" id="{1184D9CE-421D-A37D-8C5A-56208BA5FEF2}"/>
              </a:ext>
            </a:extLst>
          </p:cNvPr>
          <p:cNvSpPr>
            <a:spLocks noGrp="1"/>
          </p:cNvSpPr>
          <p:nvPr>
            <p:ph type="body" idx="1"/>
          </p:nvPr>
        </p:nvSpPr>
        <p:spPr/>
        <p:txBody>
          <a:bodyPr/>
          <a:lstStyle/>
          <a:p>
            <a:endParaRPr lang="vi-VN"/>
          </a:p>
        </p:txBody>
      </p:sp>
      <p:sp>
        <p:nvSpPr>
          <p:cNvPr id="2" name="Slide Number Placeholder 1">
            <a:extLst>
              <a:ext uri="{FF2B5EF4-FFF2-40B4-BE49-F238E27FC236}">
                <a16:creationId xmlns:a16="http://schemas.microsoft.com/office/drawing/2014/main" id="{BCA67087-0A97-71A3-F7FF-6243F7C89882}"/>
              </a:ext>
            </a:extLst>
          </p:cNvPr>
          <p:cNvSpPr>
            <a:spLocks noGrp="1"/>
          </p:cNvSpPr>
          <p:nvPr>
            <p:ph type="sldNum" sz="quarter" idx="12"/>
          </p:nvPr>
        </p:nvSpPr>
        <p:spPr/>
        <p:txBody>
          <a:bodyPr/>
          <a:lstStyle/>
          <a:p>
            <a:fld id="{CBF310FD-C090-4C3A-AF23-E809F51E0484}" type="slidenum">
              <a:rPr lang="vi-VN" smtClean="0"/>
              <a:t>14</a:t>
            </a:fld>
            <a:endParaRPr lang="vi-VN"/>
          </a:p>
        </p:txBody>
      </p:sp>
    </p:spTree>
    <p:extLst>
      <p:ext uri="{BB962C8B-B14F-4D97-AF65-F5344CB8AC3E}">
        <p14:creationId xmlns:p14="http://schemas.microsoft.com/office/powerpoint/2010/main" val="2964713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717CEB3-F843-9C48-DAF2-E1A10A445959}"/>
              </a:ext>
            </a:extLst>
          </p:cNvPr>
          <p:cNvSpPr>
            <a:spLocks noGrp="1"/>
          </p:cNvSpPr>
          <p:nvPr>
            <p:ph type="title"/>
          </p:nvPr>
        </p:nvSpPr>
        <p:spPr/>
        <p:txBody>
          <a:bodyPr/>
          <a:lstStyle/>
          <a:p>
            <a:r>
              <a:rPr lang="vi-VN"/>
              <a:t>III. Phương pháp song song hóa</a:t>
            </a:r>
          </a:p>
        </p:txBody>
      </p:sp>
      <mc:AlternateContent xmlns:mc="http://schemas.openxmlformats.org/markup-compatibility/2006">
        <mc:Choice xmlns:a14="http://schemas.microsoft.com/office/drawing/2010/main" Requires="a14">
          <p:sp>
            <p:nvSpPr>
              <p:cNvPr id="5" name="Content Placeholder 4">
                <a:extLst>
                  <a:ext uri="{FF2B5EF4-FFF2-40B4-BE49-F238E27FC236}">
                    <a16:creationId xmlns:a16="http://schemas.microsoft.com/office/drawing/2014/main" id="{780F4AE6-1CB1-9F47-E999-6C5C110888A5}"/>
                  </a:ext>
                </a:extLst>
              </p:cNvPr>
              <p:cNvSpPr>
                <a:spLocks noGrp="1"/>
              </p:cNvSpPr>
              <p:nvPr>
                <p:ph idx="1"/>
              </p:nvPr>
            </p:nvSpPr>
            <p:spPr/>
            <p:txBody>
              <a:bodyPr/>
              <a:lstStyle/>
              <a:p>
                <a:r>
                  <a:rPr lang="vi-VN" b="1"/>
                  <a:t>Nhân ma trận</a:t>
                </a:r>
                <a:r>
                  <a:rPr lang="vi-VN"/>
                  <a:t>:</a:t>
                </a:r>
              </a:p>
              <a:p>
                <a:pPr lvl="1"/>
                <a:r>
                  <a:rPr lang="vi-VN"/>
                  <a:t>Nhân ma trận chưa song song</a:t>
                </a:r>
              </a:p>
              <a:p>
                <a:pPr lvl="1"/>
                <a:r>
                  <a:rPr lang="vi-VN"/>
                  <a:t>Thuật toán cannon</a:t>
                </a:r>
              </a:p>
              <a:p>
                <a:pPr lvl="1"/>
                <a:r>
                  <a:rPr lang="vi-VN"/>
                  <a:t>Thuận toán dns</a:t>
                </a:r>
              </a:p>
              <a:p>
                <a:pPr lvl="1"/>
                <a:endParaRPr lang="vi-VN"/>
              </a:p>
              <a:p>
                <a:r>
                  <a:rPr lang="vi-VN" b="1"/>
                  <a:t>Giảm chuẩn Jacobi</a:t>
                </a:r>
                <a:r>
                  <a:rPr lang="vi-VN"/>
                  <a:t>: Do ma trận là ma trận thực nên sử dụng phép quay đơn vị vì </a:t>
                </a:r>
                <a14:m>
                  <m:oMath xmlns:m="http://schemas.openxmlformats.org/officeDocument/2006/math">
                    <m:r>
                      <a:rPr lang="vi-VN" i="1">
                        <a:latin typeface="Cambria Math" panose="02040503050406030204" pitchFamily="18" charset="0"/>
                      </a:rPr>
                      <m:t>𝐶</m:t>
                    </m:r>
                    <m:r>
                      <a:rPr lang="vi-VN" i="1">
                        <a:latin typeface="Cambria Math" panose="02040503050406030204" pitchFamily="18" charset="0"/>
                      </a:rPr>
                      <m:t>=</m:t>
                    </m:r>
                    <m:r>
                      <a:rPr lang="vi-VN" i="1">
                        <a:latin typeface="Cambria Math" panose="02040503050406030204" pitchFamily="18" charset="0"/>
                      </a:rPr>
                      <m:t>𝑀</m:t>
                    </m:r>
                    <m:sSup>
                      <m:sSupPr>
                        <m:ctrlPr>
                          <a:rPr lang="vi-VN" i="1">
                            <a:latin typeface="Cambria Math" panose="02040503050406030204" pitchFamily="18" charset="0"/>
                          </a:rPr>
                        </m:ctrlPr>
                      </m:sSupPr>
                      <m:e>
                        <m:r>
                          <m:rPr>
                            <m:sty m:val="p"/>
                          </m:rPr>
                          <a:rPr lang="vi-VN" i="1">
                            <a:latin typeface="Cambria Math" panose="02040503050406030204" pitchFamily="18" charset="0"/>
                          </a:rPr>
                          <m:t>M</m:t>
                        </m:r>
                      </m:e>
                      <m:sup>
                        <m:r>
                          <a:rPr lang="vi-VN" i="1">
                            <a:latin typeface="Cambria Math" panose="02040503050406030204" pitchFamily="18" charset="0"/>
                          </a:rPr>
                          <m:t>∗</m:t>
                        </m:r>
                      </m:sup>
                    </m:sSup>
                    <m:r>
                      <a:rPr lang="vi-VN" i="1">
                        <a:latin typeface="Cambria Math" panose="02040503050406030204" pitchFamily="18" charset="0"/>
                      </a:rPr>
                      <m:t>−</m:t>
                    </m:r>
                    <m:sSup>
                      <m:sSupPr>
                        <m:ctrlPr>
                          <a:rPr lang="vi-VN" i="1">
                            <a:latin typeface="Cambria Math" panose="02040503050406030204" pitchFamily="18" charset="0"/>
                          </a:rPr>
                        </m:ctrlPr>
                      </m:sSupPr>
                      <m:e>
                        <m:r>
                          <m:rPr>
                            <m:sty m:val="p"/>
                          </m:rPr>
                          <a:rPr lang="vi-VN" i="1">
                            <a:latin typeface="Cambria Math" panose="02040503050406030204" pitchFamily="18" charset="0"/>
                          </a:rPr>
                          <m:t>M</m:t>
                        </m:r>
                      </m:e>
                      <m:sup>
                        <m:r>
                          <a:rPr lang="vi-VN" i="1">
                            <a:latin typeface="Cambria Math" panose="02040503050406030204" pitchFamily="18" charset="0"/>
                          </a:rPr>
                          <m:t>∗</m:t>
                        </m:r>
                      </m:sup>
                    </m:sSup>
                    <m:r>
                      <a:rPr lang="vi-VN" i="1">
                        <a:latin typeface="Cambria Math" panose="02040503050406030204" pitchFamily="18" charset="0"/>
                      </a:rPr>
                      <m:t>𝑀</m:t>
                    </m:r>
                    <m:r>
                      <a:rPr lang="vi-VN" b="0" i="1" smtClean="0">
                        <a:latin typeface="Cambria Math" panose="02040503050406030204" pitchFamily="18" charset="0"/>
                      </a:rPr>
                      <m:t>=</m:t>
                    </m:r>
                    <m:r>
                      <a:rPr lang="vi-VN" i="1">
                        <a:latin typeface="Cambria Math" panose="02040503050406030204" pitchFamily="18" charset="0"/>
                      </a:rPr>
                      <m:t>0</m:t>
                    </m:r>
                  </m:oMath>
                </a14:m>
                <a:endParaRPr lang="vi-VN"/>
              </a:p>
              <a:p>
                <a:r>
                  <a:rPr lang="vi-VN"/>
                  <a:t>Các thuật toán con khác</a:t>
                </a:r>
              </a:p>
              <a:p>
                <a:endParaRPr lang="vi-VN"/>
              </a:p>
            </p:txBody>
          </p:sp>
        </mc:Choice>
        <mc:Fallback>
          <p:sp>
            <p:nvSpPr>
              <p:cNvPr id="5" name="Content Placeholder 4">
                <a:extLst>
                  <a:ext uri="{FF2B5EF4-FFF2-40B4-BE49-F238E27FC236}">
                    <a16:creationId xmlns:a16="http://schemas.microsoft.com/office/drawing/2014/main" id="{780F4AE6-1CB1-9F47-E999-6C5C110888A5}"/>
                  </a:ext>
                </a:extLst>
              </p:cNvPr>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vi-VN">
                    <a:noFill/>
                  </a:rPr>
                  <a:t> </a:t>
                </a:r>
              </a:p>
            </p:txBody>
          </p:sp>
        </mc:Fallback>
      </mc:AlternateContent>
      <p:sp>
        <p:nvSpPr>
          <p:cNvPr id="2" name="Slide Number Placeholder 1">
            <a:extLst>
              <a:ext uri="{FF2B5EF4-FFF2-40B4-BE49-F238E27FC236}">
                <a16:creationId xmlns:a16="http://schemas.microsoft.com/office/drawing/2014/main" id="{953A3B36-0F3F-DC97-BFD4-5CF5E228DE74}"/>
              </a:ext>
            </a:extLst>
          </p:cNvPr>
          <p:cNvSpPr>
            <a:spLocks noGrp="1"/>
          </p:cNvSpPr>
          <p:nvPr>
            <p:ph type="sldNum" sz="quarter" idx="12"/>
          </p:nvPr>
        </p:nvSpPr>
        <p:spPr/>
        <p:txBody>
          <a:bodyPr/>
          <a:lstStyle/>
          <a:p>
            <a:fld id="{CBF310FD-C090-4C3A-AF23-E809F51E0484}" type="slidenum">
              <a:rPr lang="vi-VN" smtClean="0"/>
              <a:t>15</a:t>
            </a:fld>
            <a:endParaRPr lang="vi-VN"/>
          </a:p>
        </p:txBody>
      </p:sp>
    </p:spTree>
    <p:extLst>
      <p:ext uri="{BB962C8B-B14F-4D97-AF65-F5344CB8AC3E}">
        <p14:creationId xmlns:p14="http://schemas.microsoft.com/office/powerpoint/2010/main" val="4179207188"/>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1C82C-6066-3CF4-2BB0-3998E2A962FC}"/>
              </a:ext>
            </a:extLst>
          </p:cNvPr>
          <p:cNvSpPr>
            <a:spLocks noGrp="1"/>
          </p:cNvSpPr>
          <p:nvPr>
            <p:ph type="title"/>
          </p:nvPr>
        </p:nvSpPr>
        <p:spPr/>
        <p:txBody>
          <a:bodyPr/>
          <a:lstStyle/>
          <a:p>
            <a:r>
              <a:rPr lang="vi-VN"/>
              <a:t>III. Phương pháp song song hóa</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0034E76-0809-9D0B-63DC-BC3006F183ED}"/>
                  </a:ext>
                </a:extLst>
              </p:cNvPr>
              <p:cNvSpPr>
                <a:spLocks noGrp="1"/>
              </p:cNvSpPr>
              <p:nvPr>
                <p:ph idx="1"/>
              </p:nvPr>
            </p:nvSpPr>
            <p:spPr/>
            <p:txBody>
              <a:bodyPr/>
              <a:lstStyle/>
              <a:p>
                <a:r>
                  <a:rPr lang="vi-VN" b="1"/>
                  <a:t>Thuật toán cannon</a:t>
                </a:r>
                <a:r>
                  <a:rPr lang="vi-VN"/>
                  <a:t>:</a:t>
                </a:r>
              </a:p>
              <a:p>
                <a:pPr lvl="1"/>
                <a:r>
                  <a:rPr lang="vi-VN"/>
                  <a:t>Cấu hình hệ thống:</a:t>
                </a:r>
              </a:p>
              <a:p>
                <a:pPr lvl="2"/>
                <a:r>
                  <a:rPr lang="vi-VN"/>
                  <a:t>Sử dụng </a:t>
                </a:r>
                <a14:m>
                  <m:oMath xmlns:m="http://schemas.openxmlformats.org/officeDocument/2006/math">
                    <m:r>
                      <m:rPr>
                        <m:sty m:val="p"/>
                      </m:rPr>
                      <a:rPr lang="vi-VN" i="1">
                        <a:latin typeface="Cambria Math" panose="02040503050406030204" pitchFamily="18" charset="0"/>
                      </a:rPr>
                      <m:t>p</m:t>
                    </m:r>
                  </m:oMath>
                </a14:m>
                <a:r>
                  <a:rPr lang="vi-VN"/>
                  <a:t> bộ xử lý được sắp xếp trên lưới vuông </a:t>
                </a:r>
                <a14:m>
                  <m:oMath xmlns:m="http://schemas.openxmlformats.org/officeDocument/2006/math">
                    <m:rad>
                      <m:radPr>
                        <m:degHide m:val="on"/>
                        <m:ctrlPr>
                          <a:rPr lang="vi-VN" i="1" smtClean="0">
                            <a:latin typeface="Cambria Math" panose="02040503050406030204" pitchFamily="18" charset="0"/>
                          </a:rPr>
                        </m:ctrlPr>
                      </m:radPr>
                      <m:deg/>
                      <m:e>
                        <m:r>
                          <m:rPr>
                            <m:sty m:val="p"/>
                          </m:rPr>
                          <a:rPr lang="vi-VN" i="1">
                            <a:latin typeface="Cambria Math" panose="02040503050406030204" pitchFamily="18" charset="0"/>
                          </a:rPr>
                          <m:t>p</m:t>
                        </m:r>
                      </m:e>
                    </m:rad>
                    <m:r>
                      <a:rPr lang="vi-VN" b="0" i="1" smtClean="0">
                        <a:latin typeface="Cambria Math" panose="02040503050406030204" pitchFamily="18" charset="0"/>
                      </a:rPr>
                      <m:t> </m:t>
                    </m:r>
                    <m:r>
                      <m:rPr>
                        <m:sty m:val="p"/>
                      </m:rPr>
                      <a:rPr lang="vi-VN" i="1">
                        <a:latin typeface="Cambria Math" panose="02040503050406030204" pitchFamily="18" charset="0"/>
                      </a:rPr>
                      <m:t>x</m:t>
                    </m:r>
                    <m:r>
                      <a:rPr lang="vi-VN" b="0" i="1" smtClean="0">
                        <a:latin typeface="Cambria Math" panose="02040503050406030204" pitchFamily="18" charset="0"/>
                      </a:rPr>
                      <m:t> </m:t>
                    </m:r>
                    <m:rad>
                      <m:radPr>
                        <m:degHide m:val="on"/>
                        <m:ctrlPr>
                          <a:rPr lang="vi-VN" i="1" smtClean="0">
                            <a:latin typeface="Cambria Math" panose="02040503050406030204" pitchFamily="18" charset="0"/>
                          </a:rPr>
                        </m:ctrlPr>
                      </m:radPr>
                      <m:deg/>
                      <m:e>
                        <m:r>
                          <m:rPr>
                            <m:sty m:val="p"/>
                          </m:rPr>
                          <a:rPr lang="vi-VN" i="1">
                            <a:latin typeface="Cambria Math" panose="02040503050406030204" pitchFamily="18" charset="0"/>
                          </a:rPr>
                          <m:t>p</m:t>
                        </m:r>
                      </m:e>
                    </m:rad>
                  </m:oMath>
                </a14:m>
                <a:endParaRPr lang="vi-VN"/>
              </a:p>
              <a:p>
                <a:pPr lvl="2"/>
                <a:r>
                  <a:rPr lang="vi-VN"/>
                  <a:t>Ma trận đầu vào A và B (</a:t>
                </a:r>
                <a14:m>
                  <m:oMath xmlns:m="http://schemas.openxmlformats.org/officeDocument/2006/math">
                    <m:r>
                      <m:rPr>
                        <m:sty m:val="p"/>
                      </m:rPr>
                      <a:rPr lang="vi-VN" i="1">
                        <a:latin typeface="Cambria Math" panose="02040503050406030204" pitchFamily="18" charset="0"/>
                      </a:rPr>
                      <m:t>n</m:t>
                    </m:r>
                    <m:r>
                      <a:rPr lang="vi-VN" b="0" i="1" smtClean="0">
                        <a:latin typeface="Cambria Math" panose="02040503050406030204" pitchFamily="18" charset="0"/>
                      </a:rPr>
                      <m:t> </m:t>
                    </m:r>
                    <m:r>
                      <m:rPr>
                        <m:sty m:val="p"/>
                      </m:rPr>
                      <a:rPr lang="vi-VN" i="1">
                        <a:latin typeface="Cambria Math" panose="02040503050406030204" pitchFamily="18" charset="0"/>
                      </a:rPr>
                      <m:t>x</m:t>
                    </m:r>
                    <m:r>
                      <a:rPr lang="vi-VN" b="0" i="1" smtClean="0">
                        <a:latin typeface="Cambria Math" panose="02040503050406030204" pitchFamily="18" charset="0"/>
                      </a:rPr>
                      <m:t> </m:t>
                    </m:r>
                    <m:r>
                      <m:rPr>
                        <m:sty m:val="p"/>
                      </m:rPr>
                      <a:rPr lang="vi-VN" i="1">
                        <a:latin typeface="Cambria Math" panose="02040503050406030204" pitchFamily="18" charset="0"/>
                      </a:rPr>
                      <m:t>n</m:t>
                    </m:r>
                  </m:oMath>
                </a14:m>
                <a:r>
                  <a:rPr lang="vi-VN"/>
                  <a:t>) được chia thành các khối có kích thước </a:t>
                </a:r>
                <a14:m>
                  <m:oMath xmlns:m="http://schemas.openxmlformats.org/officeDocument/2006/math">
                    <m:f>
                      <m:fPr>
                        <m:ctrlPr>
                          <a:rPr lang="vi-VN" i="1" smtClean="0">
                            <a:latin typeface="Cambria Math" panose="02040503050406030204" pitchFamily="18" charset="0"/>
                          </a:rPr>
                        </m:ctrlPr>
                      </m:fPr>
                      <m:num>
                        <m:r>
                          <m:rPr>
                            <m:sty m:val="p"/>
                          </m:rPr>
                          <a:rPr lang="vi-VN" i="1">
                            <a:latin typeface="Cambria Math" panose="02040503050406030204" pitchFamily="18" charset="0"/>
                          </a:rPr>
                          <m:t>n</m:t>
                        </m:r>
                      </m:num>
                      <m:den>
                        <m:rad>
                          <m:radPr>
                            <m:degHide m:val="on"/>
                            <m:ctrlPr>
                              <a:rPr lang="vi-VN" i="1" smtClean="0">
                                <a:latin typeface="Cambria Math" panose="02040503050406030204" pitchFamily="18" charset="0"/>
                              </a:rPr>
                            </m:ctrlPr>
                          </m:radPr>
                          <m:deg/>
                          <m:e>
                            <m:r>
                              <m:rPr>
                                <m:sty m:val="p"/>
                              </m:rPr>
                              <a:rPr lang="vi-VN" i="1">
                                <a:latin typeface="Cambria Math" panose="02040503050406030204" pitchFamily="18" charset="0"/>
                              </a:rPr>
                              <m:t>p</m:t>
                            </m:r>
                          </m:e>
                        </m:rad>
                      </m:den>
                    </m:f>
                    <m:r>
                      <m:rPr>
                        <m:sty m:val="p"/>
                      </m:rPr>
                      <a:rPr lang="vi-VN" i="1">
                        <a:latin typeface="Cambria Math" panose="02040503050406030204" pitchFamily="18" charset="0"/>
                      </a:rPr>
                      <m:t>x</m:t>
                    </m:r>
                    <m:f>
                      <m:fPr>
                        <m:ctrlPr>
                          <a:rPr lang="vi-VN" i="1" smtClean="0">
                            <a:latin typeface="Cambria Math" panose="02040503050406030204" pitchFamily="18" charset="0"/>
                          </a:rPr>
                        </m:ctrlPr>
                      </m:fPr>
                      <m:num>
                        <m:r>
                          <m:rPr>
                            <m:sty m:val="p"/>
                          </m:rPr>
                          <a:rPr lang="vi-VN" i="1">
                            <a:latin typeface="Cambria Math" panose="02040503050406030204" pitchFamily="18" charset="0"/>
                          </a:rPr>
                          <m:t>n</m:t>
                        </m:r>
                      </m:num>
                      <m:den>
                        <m:rad>
                          <m:radPr>
                            <m:degHide m:val="on"/>
                            <m:ctrlPr>
                              <a:rPr lang="vi-VN" i="1" smtClean="0">
                                <a:latin typeface="Cambria Math" panose="02040503050406030204" pitchFamily="18" charset="0"/>
                              </a:rPr>
                            </m:ctrlPr>
                          </m:radPr>
                          <m:deg/>
                          <m:e>
                            <m:r>
                              <m:rPr>
                                <m:sty m:val="p"/>
                              </m:rPr>
                              <a:rPr lang="vi-VN" i="1">
                                <a:latin typeface="Cambria Math" panose="02040503050406030204" pitchFamily="18" charset="0"/>
                              </a:rPr>
                              <m:t>p</m:t>
                            </m:r>
                          </m:e>
                        </m:rad>
                      </m:den>
                    </m:f>
                  </m:oMath>
                </a14:m>
                <a:endParaRPr lang="vi-VN"/>
              </a:p>
              <a:p>
                <a:pPr lvl="1"/>
                <a:r>
                  <a:rPr lang="vi-VN"/>
                  <a:t>Quy trình thực hiện:</a:t>
                </a:r>
              </a:p>
              <a:p>
                <a:pPr lvl="2"/>
                <a:r>
                  <a:rPr lang="vi-VN"/>
                  <a:t>Căn chỉnh dữ liệu</a:t>
                </a:r>
              </a:p>
              <a:p>
                <a:pPr lvl="2"/>
                <a:r>
                  <a:rPr lang="vi-VN"/>
                  <a:t>Lặp</a:t>
                </a:r>
              </a:p>
              <a:p>
                <a:pPr lvl="3"/>
                <a:r>
                  <a:rPr lang="vi-VN"/>
                  <a:t>Mỗi bộ xử lý tính</a:t>
                </a:r>
                <a14:m>
                  <m:oMath xmlns:m="http://schemas.openxmlformats.org/officeDocument/2006/math">
                    <m:r>
                      <a:rPr lang="vi-VN" b="0" i="0" smtClean="0">
                        <a:latin typeface="Cambria Math" panose="02040503050406030204" pitchFamily="18" charset="0"/>
                      </a:rPr>
                      <m:t> </m:t>
                    </m:r>
                    <m:sSub>
                      <m:sSubPr>
                        <m:ctrlPr>
                          <a:rPr lang="vi-VN" i="1">
                            <a:latin typeface="Cambria Math" panose="02040503050406030204" pitchFamily="18" charset="0"/>
                          </a:rPr>
                        </m:ctrlPr>
                      </m:sSubPr>
                      <m:e>
                        <m:r>
                          <m:rPr>
                            <m:sty m:val="p"/>
                          </m:rPr>
                          <a:rPr lang="vi-VN" i="1" smtClean="0">
                            <a:latin typeface="Cambria Math" panose="02040503050406030204" pitchFamily="18" charset="0"/>
                          </a:rPr>
                          <m:t>C</m:t>
                        </m:r>
                      </m:e>
                      <m:sub>
                        <m:r>
                          <m:rPr>
                            <m:sty m:val="p"/>
                          </m:rPr>
                          <a:rPr lang="vi-VN" i="1" smtClean="0">
                            <a:latin typeface="Cambria Math" panose="02040503050406030204" pitchFamily="18" charset="0"/>
                          </a:rPr>
                          <m:t>ij</m:t>
                        </m:r>
                      </m:sub>
                    </m:sSub>
                    <m:r>
                      <a:rPr lang="vi-VN" b="0" i="1" smtClean="0">
                        <a:latin typeface="Cambria Math" panose="02040503050406030204" pitchFamily="18" charset="0"/>
                      </a:rPr>
                      <m:t>=</m:t>
                    </m:r>
                    <m:sSub>
                      <m:sSubPr>
                        <m:ctrlPr>
                          <a:rPr lang="vi-VN" i="1">
                            <a:latin typeface="Cambria Math" panose="02040503050406030204" pitchFamily="18" charset="0"/>
                          </a:rPr>
                        </m:ctrlPr>
                      </m:sSubPr>
                      <m:e>
                        <m:r>
                          <m:rPr>
                            <m:sty m:val="p"/>
                          </m:rPr>
                          <a:rPr lang="vi-VN" i="1">
                            <a:latin typeface="Cambria Math" panose="02040503050406030204" pitchFamily="18" charset="0"/>
                          </a:rPr>
                          <m:t>C</m:t>
                        </m:r>
                      </m:e>
                      <m:sub>
                        <m:r>
                          <m:rPr>
                            <m:sty m:val="p"/>
                          </m:rPr>
                          <a:rPr lang="vi-VN" i="1">
                            <a:latin typeface="Cambria Math" panose="02040503050406030204" pitchFamily="18" charset="0"/>
                          </a:rPr>
                          <m:t>ij</m:t>
                        </m:r>
                      </m:sub>
                    </m:sSub>
                    <m:r>
                      <a:rPr lang="vi-VN" b="0" i="1" smtClean="0">
                        <a:latin typeface="Cambria Math" panose="02040503050406030204" pitchFamily="18" charset="0"/>
                      </a:rPr>
                      <m:t>+</m:t>
                    </m:r>
                    <m:sSub>
                      <m:sSubPr>
                        <m:ctrlPr>
                          <a:rPr lang="vi-VN" i="1">
                            <a:latin typeface="Cambria Math" panose="02040503050406030204" pitchFamily="18" charset="0"/>
                          </a:rPr>
                        </m:ctrlPr>
                      </m:sSubPr>
                      <m:e>
                        <m:r>
                          <m:rPr>
                            <m:sty m:val="p"/>
                          </m:rPr>
                          <a:rPr lang="vi-VN" i="1" smtClean="0">
                            <a:latin typeface="Cambria Math" panose="02040503050406030204" pitchFamily="18" charset="0"/>
                          </a:rPr>
                          <m:t>A</m:t>
                        </m:r>
                      </m:e>
                      <m:sub>
                        <m:r>
                          <m:rPr>
                            <m:sty m:val="p"/>
                          </m:rPr>
                          <a:rPr lang="vi-VN" i="1">
                            <a:latin typeface="Cambria Math" panose="02040503050406030204" pitchFamily="18" charset="0"/>
                          </a:rPr>
                          <m:t>local</m:t>
                        </m:r>
                      </m:sub>
                    </m:sSub>
                    <m:sSub>
                      <m:sSubPr>
                        <m:ctrlPr>
                          <a:rPr lang="vi-VN" i="1">
                            <a:latin typeface="Cambria Math" panose="02040503050406030204" pitchFamily="18" charset="0"/>
                          </a:rPr>
                        </m:ctrlPr>
                      </m:sSubPr>
                      <m:e>
                        <m:r>
                          <a:rPr lang="vi-VN" b="0" i="1" smtClean="0">
                            <a:latin typeface="Cambria Math" panose="02040503050406030204" pitchFamily="18" charset="0"/>
                          </a:rPr>
                          <m:t> </m:t>
                        </m:r>
                        <m:r>
                          <m:rPr>
                            <m:sty m:val="p"/>
                          </m:rPr>
                          <a:rPr lang="vi-VN" i="1">
                            <a:latin typeface="Cambria Math" panose="02040503050406030204" pitchFamily="18" charset="0"/>
                          </a:rPr>
                          <m:t>x</m:t>
                        </m:r>
                        <m:r>
                          <a:rPr lang="vi-VN" b="0" i="1" smtClean="0">
                            <a:latin typeface="Cambria Math" panose="02040503050406030204" pitchFamily="18" charset="0"/>
                          </a:rPr>
                          <m:t> </m:t>
                        </m:r>
                        <m:r>
                          <m:rPr>
                            <m:sty m:val="p"/>
                          </m:rPr>
                          <a:rPr lang="vi-VN" i="1">
                            <a:latin typeface="Cambria Math" panose="02040503050406030204" pitchFamily="18" charset="0"/>
                          </a:rPr>
                          <m:t>B</m:t>
                        </m:r>
                      </m:e>
                      <m:sub>
                        <m:r>
                          <m:rPr>
                            <m:sty m:val="p"/>
                          </m:rPr>
                          <a:rPr lang="vi-VN" i="1">
                            <a:latin typeface="Cambria Math" panose="02040503050406030204" pitchFamily="18" charset="0"/>
                          </a:rPr>
                          <m:t>local</m:t>
                        </m:r>
                      </m:sub>
                    </m:sSub>
                  </m:oMath>
                </a14:m>
                <a:endParaRPr lang="vi-VN"/>
              </a:p>
              <a:p>
                <a:pPr lvl="3"/>
                <a:r>
                  <a:rPr lang="vi-VN"/>
                  <a:t>Dịch khối của </a:t>
                </a:r>
                <a14:m>
                  <m:oMath xmlns:m="http://schemas.openxmlformats.org/officeDocument/2006/math">
                    <m:r>
                      <m:rPr>
                        <m:sty m:val="p"/>
                      </m:rPr>
                      <a:rPr lang="vi-VN">
                        <a:latin typeface="Cambria Math" panose="02040503050406030204" pitchFamily="18" charset="0"/>
                      </a:rPr>
                      <m:t>A</m:t>
                    </m:r>
                  </m:oMath>
                </a14:m>
                <a:r>
                  <a:rPr lang="vi-VN"/>
                  <a:t> sang trái 1 bước</a:t>
                </a:r>
              </a:p>
              <a:p>
                <a:pPr lvl="3"/>
                <a:r>
                  <a:rPr lang="vi-VN"/>
                  <a:t>Dịch khối của B lên trên 1 bước</a:t>
                </a:r>
              </a:p>
              <a:p>
                <a:pPr lvl="1"/>
                <a:endParaRPr lang="vi-VN"/>
              </a:p>
            </p:txBody>
          </p:sp>
        </mc:Choice>
        <mc:Fallback>
          <p:sp>
            <p:nvSpPr>
              <p:cNvPr id="3" name="Content Placeholder 2">
                <a:extLst>
                  <a:ext uri="{FF2B5EF4-FFF2-40B4-BE49-F238E27FC236}">
                    <a16:creationId xmlns:a16="http://schemas.microsoft.com/office/drawing/2014/main" id="{B0034E76-0809-9D0B-63DC-BC3006F183ED}"/>
                  </a:ext>
                </a:extLst>
              </p:cNvPr>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DFC7C079-D8FF-7F07-E5A3-8E990EC53712}"/>
              </a:ext>
            </a:extLst>
          </p:cNvPr>
          <p:cNvSpPr>
            <a:spLocks noGrp="1"/>
          </p:cNvSpPr>
          <p:nvPr>
            <p:ph type="sldNum" sz="quarter" idx="12"/>
          </p:nvPr>
        </p:nvSpPr>
        <p:spPr/>
        <p:txBody>
          <a:bodyPr/>
          <a:lstStyle/>
          <a:p>
            <a:fld id="{CBF310FD-C090-4C3A-AF23-E809F51E0484}" type="slidenum">
              <a:rPr lang="vi-VN" smtClean="0"/>
              <a:t>16</a:t>
            </a:fld>
            <a:endParaRPr lang="vi-VN"/>
          </a:p>
        </p:txBody>
      </p:sp>
    </p:spTree>
    <p:extLst>
      <p:ext uri="{BB962C8B-B14F-4D97-AF65-F5344CB8AC3E}">
        <p14:creationId xmlns:p14="http://schemas.microsoft.com/office/powerpoint/2010/main" val="696007695"/>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A5BF2-3161-B070-5895-8CE108D24C85}"/>
              </a:ext>
            </a:extLst>
          </p:cNvPr>
          <p:cNvSpPr>
            <a:spLocks noGrp="1"/>
          </p:cNvSpPr>
          <p:nvPr>
            <p:ph type="title"/>
          </p:nvPr>
        </p:nvSpPr>
        <p:spPr/>
        <p:txBody>
          <a:bodyPr/>
          <a:lstStyle/>
          <a:p>
            <a:r>
              <a:rPr lang="vi-VN"/>
              <a:t>III. Phương pháp song song hóa</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E22515E-620A-49AB-D55B-C8DE04F23910}"/>
                  </a:ext>
                </a:extLst>
              </p:cNvPr>
              <p:cNvSpPr>
                <a:spLocks noGrp="1"/>
              </p:cNvSpPr>
              <p:nvPr>
                <p:ph idx="1"/>
              </p:nvPr>
            </p:nvSpPr>
            <p:spPr/>
            <p:txBody>
              <a:bodyPr/>
              <a:lstStyle/>
              <a:p>
                <a:r>
                  <a:rPr lang="vi-VN" b="1"/>
                  <a:t>Thuật toán dns</a:t>
                </a:r>
                <a:r>
                  <a:rPr lang="vi-VN"/>
                  <a:t>:</a:t>
                </a:r>
              </a:p>
              <a:p>
                <a:pPr lvl="1"/>
                <a:r>
                  <a:rPr lang="vi-VN"/>
                  <a:t>Cấu hình hệ thống:</a:t>
                </a:r>
              </a:p>
              <a:p>
                <a:pPr lvl="2"/>
                <a:r>
                  <a:rPr lang="vi-VN"/>
                  <a:t>Sử dụng mạng lưới xếp thành khối lập phương</a:t>
                </a:r>
              </a:p>
              <a:p>
                <a:pPr lvl="2"/>
                <a:r>
                  <a:rPr lang="vi-VN"/>
                  <a:t>Mỗi chiều tương ứng với một trong ba chỉ số i, j, k của phép nhân ma trận</a:t>
                </a:r>
              </a:p>
              <a:p>
                <a:pPr lvl="2"/>
                <a:r>
                  <a:rPr lang="vi-VN"/>
                  <a:t>Mỗi bộ xử lý chịu trách nhiệm cho một phép nhân đơn lẻ </a:t>
                </a:r>
                <a14:m>
                  <m:oMath xmlns:m="http://schemas.openxmlformats.org/officeDocument/2006/math">
                    <m:sSub>
                      <m:sSubPr>
                        <m:ctrlPr>
                          <a:rPr lang="vi-VN" i="1" smtClean="0">
                            <a:latin typeface="Cambria Math" panose="02040503050406030204" pitchFamily="18" charset="0"/>
                          </a:rPr>
                        </m:ctrlPr>
                      </m:sSubPr>
                      <m:e>
                        <m:r>
                          <m:rPr>
                            <m:sty m:val="p"/>
                          </m:rPr>
                          <a:rPr lang="vi-VN" i="1">
                            <a:latin typeface="Cambria Math" panose="02040503050406030204" pitchFamily="18" charset="0"/>
                          </a:rPr>
                          <m:t>A</m:t>
                        </m:r>
                      </m:e>
                      <m:sub>
                        <m:r>
                          <m:rPr>
                            <m:sty m:val="p"/>
                          </m:rPr>
                          <a:rPr lang="vi-VN" i="1">
                            <a:latin typeface="Cambria Math" panose="02040503050406030204" pitchFamily="18" charset="0"/>
                          </a:rPr>
                          <m:t>ik</m:t>
                        </m:r>
                      </m:sub>
                    </m:sSub>
                    <m:r>
                      <a:rPr lang="vi-VN" b="0" i="1" smtClean="0">
                        <a:latin typeface="Cambria Math" panose="02040503050406030204" pitchFamily="18" charset="0"/>
                      </a:rPr>
                      <m:t> </m:t>
                    </m:r>
                    <m:r>
                      <m:rPr>
                        <m:sty m:val="p"/>
                      </m:rPr>
                      <a:rPr lang="vi-VN" i="1">
                        <a:latin typeface="Cambria Math" panose="02040503050406030204" pitchFamily="18" charset="0"/>
                      </a:rPr>
                      <m:t>x</m:t>
                    </m:r>
                    <m:r>
                      <a:rPr lang="vi-VN" b="0" i="1" smtClean="0">
                        <a:latin typeface="Cambria Math" panose="02040503050406030204" pitchFamily="18" charset="0"/>
                      </a:rPr>
                      <m:t> </m:t>
                    </m:r>
                    <m:sSub>
                      <m:sSubPr>
                        <m:ctrlPr>
                          <a:rPr lang="vi-VN" i="1" smtClean="0">
                            <a:latin typeface="Cambria Math" panose="02040503050406030204" pitchFamily="18" charset="0"/>
                          </a:rPr>
                        </m:ctrlPr>
                      </m:sSubPr>
                      <m:e>
                        <m:r>
                          <m:rPr>
                            <m:sty m:val="p"/>
                          </m:rPr>
                          <a:rPr lang="vi-VN" i="1">
                            <a:latin typeface="Cambria Math" panose="02040503050406030204" pitchFamily="18" charset="0"/>
                          </a:rPr>
                          <m:t>B</m:t>
                        </m:r>
                      </m:e>
                      <m:sub>
                        <m:r>
                          <m:rPr>
                            <m:sty m:val="p"/>
                          </m:rPr>
                          <a:rPr lang="vi-VN" i="1">
                            <a:latin typeface="Cambria Math" panose="02040503050406030204" pitchFamily="18" charset="0"/>
                          </a:rPr>
                          <m:t>kj</m:t>
                        </m:r>
                      </m:sub>
                    </m:sSub>
                  </m:oMath>
                </a14:m>
                <a:endParaRPr lang="vi-VN"/>
              </a:p>
              <a:p>
                <a:pPr lvl="1"/>
                <a:r>
                  <a:rPr lang="vi-VN"/>
                  <a:t>Quy trình thực hiện:</a:t>
                </a:r>
              </a:p>
              <a:p>
                <a:pPr lvl="2"/>
                <a:r>
                  <a:rPr lang="vi-VN"/>
                  <a:t>Gửi phần tử </a:t>
                </a:r>
                <a14:m>
                  <m:oMath xmlns:m="http://schemas.openxmlformats.org/officeDocument/2006/math">
                    <m:sSub>
                      <m:sSubPr>
                        <m:ctrlPr>
                          <a:rPr lang="vi-VN" i="1">
                            <a:latin typeface="Cambria Math" panose="02040503050406030204" pitchFamily="18" charset="0"/>
                          </a:rPr>
                        </m:ctrlPr>
                      </m:sSubPr>
                      <m:e>
                        <m:r>
                          <m:rPr>
                            <m:sty m:val="p"/>
                          </m:rPr>
                          <a:rPr lang="vi-VN" i="1">
                            <a:latin typeface="Cambria Math" panose="02040503050406030204" pitchFamily="18" charset="0"/>
                          </a:rPr>
                          <m:t>A</m:t>
                        </m:r>
                      </m:e>
                      <m:sub>
                        <m:r>
                          <m:rPr>
                            <m:sty m:val="p"/>
                          </m:rPr>
                          <a:rPr lang="vi-VN" i="1">
                            <a:latin typeface="Cambria Math" panose="02040503050406030204" pitchFamily="18" charset="0"/>
                          </a:rPr>
                          <m:t>ik</m:t>
                        </m:r>
                      </m:sub>
                    </m:sSub>
                  </m:oMath>
                </a14:m>
                <a:r>
                  <a:rPr lang="vi-VN"/>
                  <a:t> dọc theo trục </a:t>
                </a:r>
                <a14:m>
                  <m:oMath xmlns:m="http://schemas.openxmlformats.org/officeDocument/2006/math">
                    <m:r>
                      <m:rPr>
                        <m:sty m:val="p"/>
                      </m:rPr>
                      <a:rPr lang="vi-VN" i="1">
                        <a:latin typeface="Cambria Math" panose="02040503050406030204" pitchFamily="18" charset="0"/>
                      </a:rPr>
                      <m:t>j</m:t>
                    </m:r>
                  </m:oMath>
                </a14:m>
                <a:endParaRPr lang="vi-VN"/>
              </a:p>
              <a:p>
                <a:pPr lvl="2"/>
                <a:r>
                  <a:rPr lang="vi-VN"/>
                  <a:t>Gửi phần tử </a:t>
                </a:r>
                <a14:m>
                  <m:oMath xmlns:m="http://schemas.openxmlformats.org/officeDocument/2006/math">
                    <m:sSub>
                      <m:sSubPr>
                        <m:ctrlPr>
                          <a:rPr lang="vi-VN" i="1">
                            <a:latin typeface="Cambria Math" panose="02040503050406030204" pitchFamily="18" charset="0"/>
                          </a:rPr>
                        </m:ctrlPr>
                      </m:sSubPr>
                      <m:e>
                        <m:r>
                          <m:rPr>
                            <m:sty m:val="p"/>
                          </m:rPr>
                          <a:rPr lang="vi-VN" i="1">
                            <a:latin typeface="Cambria Math" panose="02040503050406030204" pitchFamily="18" charset="0"/>
                          </a:rPr>
                          <m:t>B</m:t>
                        </m:r>
                      </m:e>
                      <m:sub>
                        <m:r>
                          <m:rPr>
                            <m:sty m:val="p"/>
                          </m:rPr>
                          <a:rPr lang="vi-VN" i="1">
                            <a:latin typeface="Cambria Math" panose="02040503050406030204" pitchFamily="18" charset="0"/>
                          </a:rPr>
                          <m:t>kj</m:t>
                        </m:r>
                      </m:sub>
                    </m:sSub>
                  </m:oMath>
                </a14:m>
                <a:r>
                  <a:rPr lang="vi-VN"/>
                  <a:t> dọc theo trục </a:t>
                </a:r>
                <a14:m>
                  <m:oMath xmlns:m="http://schemas.openxmlformats.org/officeDocument/2006/math">
                    <m:r>
                      <m:rPr>
                        <m:sty m:val="p"/>
                      </m:rPr>
                      <a:rPr lang="vi-VN">
                        <a:latin typeface="Cambria Math" panose="02040503050406030204" pitchFamily="18" charset="0"/>
                      </a:rPr>
                      <m:t>i</m:t>
                    </m:r>
                  </m:oMath>
                </a14:m>
                <a:endParaRPr lang="vi-VN"/>
              </a:p>
              <a:p>
                <a:pPr lvl="2"/>
                <a:r>
                  <a:rPr lang="vi-VN"/>
                  <a:t>Mỗi bộ xử lý tính </a:t>
                </a:r>
                <a14:m>
                  <m:oMath xmlns:m="http://schemas.openxmlformats.org/officeDocument/2006/math">
                    <m:sSub>
                      <m:sSubPr>
                        <m:ctrlPr>
                          <a:rPr lang="vi-VN" i="1" smtClean="0">
                            <a:latin typeface="Cambria Math" panose="02040503050406030204" pitchFamily="18" charset="0"/>
                          </a:rPr>
                        </m:ctrlPr>
                      </m:sSubPr>
                      <m:e>
                        <m:r>
                          <m:rPr>
                            <m:sty m:val="p"/>
                          </m:rPr>
                          <a:rPr lang="vi-VN" i="1">
                            <a:latin typeface="Cambria Math" panose="02040503050406030204" pitchFamily="18" charset="0"/>
                          </a:rPr>
                          <m:t>C</m:t>
                        </m:r>
                      </m:e>
                      <m:sub>
                        <m:r>
                          <m:rPr>
                            <m:sty m:val="p"/>
                          </m:rPr>
                          <a:rPr lang="vi-VN" i="1">
                            <a:latin typeface="Cambria Math" panose="02040503050406030204" pitchFamily="18" charset="0"/>
                          </a:rPr>
                          <m:t>ij</m:t>
                        </m:r>
                        <m:r>
                          <m:rPr>
                            <m:sty m:val="p"/>
                          </m:rPr>
                          <a:rPr lang="vi-VN" i="1" smtClean="0">
                            <a:latin typeface="Cambria Math" panose="02040503050406030204" pitchFamily="18" charset="0"/>
                          </a:rPr>
                          <m:t>k</m:t>
                        </m:r>
                      </m:sub>
                    </m:sSub>
                    <m:r>
                      <a:rPr lang="vi-VN" b="0" i="1" smtClean="0">
                        <a:latin typeface="Cambria Math" panose="02040503050406030204" pitchFamily="18" charset="0"/>
                      </a:rPr>
                      <m:t>=</m:t>
                    </m:r>
                    <m:sSub>
                      <m:sSubPr>
                        <m:ctrlPr>
                          <a:rPr lang="vi-VN" i="1">
                            <a:latin typeface="Cambria Math" panose="02040503050406030204" pitchFamily="18" charset="0"/>
                          </a:rPr>
                        </m:ctrlPr>
                      </m:sSubPr>
                      <m:e>
                        <m:r>
                          <m:rPr>
                            <m:sty m:val="p"/>
                          </m:rPr>
                          <a:rPr lang="vi-VN" i="1" smtClean="0">
                            <a:latin typeface="Cambria Math" panose="02040503050406030204" pitchFamily="18" charset="0"/>
                          </a:rPr>
                          <m:t>A</m:t>
                        </m:r>
                      </m:e>
                      <m:sub>
                        <m:r>
                          <m:rPr>
                            <m:sty m:val="p"/>
                          </m:rPr>
                          <a:rPr lang="vi-VN" i="1">
                            <a:latin typeface="Cambria Math" panose="02040503050406030204" pitchFamily="18" charset="0"/>
                          </a:rPr>
                          <m:t>ik</m:t>
                        </m:r>
                      </m:sub>
                    </m:sSub>
                    <m:r>
                      <a:rPr lang="vi-VN" b="0" i="1" smtClean="0">
                        <a:latin typeface="Cambria Math" panose="02040503050406030204" pitchFamily="18" charset="0"/>
                      </a:rPr>
                      <m:t> </m:t>
                    </m:r>
                    <m:r>
                      <a:rPr lang="vi-VN" i="1">
                        <a:latin typeface="Cambria Math" panose="02040503050406030204" pitchFamily="18" charset="0"/>
                      </a:rPr>
                      <m:t>𝑥</m:t>
                    </m:r>
                    <m:sSub>
                      <m:sSubPr>
                        <m:ctrlPr>
                          <a:rPr lang="vi-VN" i="1">
                            <a:latin typeface="Cambria Math" panose="02040503050406030204" pitchFamily="18" charset="0"/>
                          </a:rPr>
                        </m:ctrlPr>
                      </m:sSubPr>
                      <m:e>
                        <m:r>
                          <a:rPr lang="vi-VN" b="0" i="1" smtClean="0">
                            <a:latin typeface="Cambria Math" panose="02040503050406030204" pitchFamily="18" charset="0"/>
                          </a:rPr>
                          <m:t> </m:t>
                        </m:r>
                        <m:r>
                          <m:rPr>
                            <m:sty m:val="p"/>
                          </m:rPr>
                          <a:rPr lang="vi-VN" i="1" smtClean="0">
                            <a:latin typeface="Cambria Math" panose="02040503050406030204" pitchFamily="18" charset="0"/>
                          </a:rPr>
                          <m:t>B</m:t>
                        </m:r>
                      </m:e>
                      <m:sub>
                        <m:r>
                          <m:rPr>
                            <m:sty m:val="p"/>
                          </m:rPr>
                          <a:rPr lang="vi-VN" i="1" smtClean="0">
                            <a:latin typeface="Cambria Math" panose="02040503050406030204" pitchFamily="18" charset="0"/>
                          </a:rPr>
                          <m:t>kj</m:t>
                        </m:r>
                      </m:sub>
                    </m:sSub>
                  </m:oMath>
                </a14:m>
                <a:endParaRPr lang="vi-VN"/>
              </a:p>
              <a:p>
                <a:pPr lvl="2"/>
                <a14:m>
                  <m:oMath xmlns:m="http://schemas.openxmlformats.org/officeDocument/2006/math">
                    <m:sSub>
                      <m:sSubPr>
                        <m:ctrlPr>
                          <a:rPr lang="vi-VN" i="1">
                            <a:latin typeface="Cambria Math" panose="02040503050406030204" pitchFamily="18" charset="0"/>
                          </a:rPr>
                        </m:ctrlPr>
                      </m:sSubPr>
                      <m:e>
                        <m:r>
                          <m:rPr>
                            <m:sty m:val="p"/>
                          </m:rPr>
                          <a:rPr lang="vi-VN" i="1">
                            <a:latin typeface="Cambria Math" panose="02040503050406030204" pitchFamily="18" charset="0"/>
                          </a:rPr>
                          <m:t>C</m:t>
                        </m:r>
                      </m:e>
                      <m:sub>
                        <m:r>
                          <m:rPr>
                            <m:sty m:val="p"/>
                          </m:rPr>
                          <a:rPr lang="vi-VN" i="1">
                            <a:latin typeface="Cambria Math" panose="02040503050406030204" pitchFamily="18" charset="0"/>
                          </a:rPr>
                          <m:t>ij</m:t>
                        </m:r>
                      </m:sub>
                    </m:sSub>
                    <m:r>
                      <a:rPr lang="vi-VN" b="0" i="1" smtClean="0">
                        <a:latin typeface="Cambria Math" panose="02040503050406030204" pitchFamily="18" charset="0"/>
                      </a:rPr>
                      <m:t>=</m:t>
                    </m:r>
                    <m:nary>
                      <m:naryPr>
                        <m:chr m:val="∑"/>
                        <m:supHide m:val="on"/>
                        <m:ctrlPr>
                          <a:rPr lang="vi-VN" b="0" i="1" smtClean="0">
                            <a:latin typeface="Cambria Math" panose="02040503050406030204" pitchFamily="18" charset="0"/>
                          </a:rPr>
                        </m:ctrlPr>
                      </m:naryPr>
                      <m:sub>
                        <m:r>
                          <m:rPr>
                            <m:sty m:val="p"/>
                            <m:brk m:alnAt="7"/>
                          </m:rPr>
                          <a:rPr lang="vi-VN" i="1">
                            <a:latin typeface="Cambria Math" panose="02040503050406030204" pitchFamily="18" charset="0"/>
                          </a:rPr>
                          <m:t>k</m:t>
                        </m:r>
                      </m:sub>
                      <m:sup/>
                      <m:e>
                        <m:sSub>
                          <m:sSubPr>
                            <m:ctrlPr>
                              <a:rPr lang="vi-VN" i="1">
                                <a:latin typeface="Cambria Math" panose="02040503050406030204" pitchFamily="18" charset="0"/>
                              </a:rPr>
                            </m:ctrlPr>
                          </m:sSubPr>
                          <m:e>
                            <m:r>
                              <m:rPr>
                                <m:sty m:val="p"/>
                              </m:rPr>
                              <a:rPr lang="vi-VN" i="1">
                                <a:latin typeface="Cambria Math" panose="02040503050406030204" pitchFamily="18" charset="0"/>
                              </a:rPr>
                              <m:t>C</m:t>
                            </m:r>
                          </m:e>
                          <m:sub>
                            <m:r>
                              <m:rPr>
                                <m:sty m:val="p"/>
                              </m:rPr>
                              <a:rPr lang="vi-VN" i="1">
                                <a:latin typeface="Cambria Math" panose="02040503050406030204" pitchFamily="18" charset="0"/>
                              </a:rPr>
                              <m:t>ijk</m:t>
                            </m:r>
                          </m:sub>
                        </m:sSub>
                      </m:e>
                    </m:nary>
                  </m:oMath>
                </a14:m>
                <a:endParaRPr lang="vi-VN"/>
              </a:p>
            </p:txBody>
          </p:sp>
        </mc:Choice>
        <mc:Fallback>
          <p:sp>
            <p:nvSpPr>
              <p:cNvPr id="3" name="Content Placeholder 2">
                <a:extLst>
                  <a:ext uri="{FF2B5EF4-FFF2-40B4-BE49-F238E27FC236}">
                    <a16:creationId xmlns:a16="http://schemas.microsoft.com/office/drawing/2014/main" id="{5E22515E-620A-49AB-D55B-C8DE04F23910}"/>
                  </a:ext>
                </a:extLst>
              </p:cNvPr>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9E4A3617-5D7F-B705-331E-C77C505BC6CD}"/>
              </a:ext>
            </a:extLst>
          </p:cNvPr>
          <p:cNvSpPr>
            <a:spLocks noGrp="1"/>
          </p:cNvSpPr>
          <p:nvPr>
            <p:ph type="sldNum" sz="quarter" idx="12"/>
          </p:nvPr>
        </p:nvSpPr>
        <p:spPr/>
        <p:txBody>
          <a:bodyPr/>
          <a:lstStyle/>
          <a:p>
            <a:fld id="{CBF310FD-C090-4C3A-AF23-E809F51E0484}" type="slidenum">
              <a:rPr lang="vi-VN" smtClean="0"/>
              <a:t>17</a:t>
            </a:fld>
            <a:endParaRPr lang="vi-VN"/>
          </a:p>
        </p:txBody>
      </p:sp>
    </p:spTree>
    <p:extLst>
      <p:ext uri="{BB962C8B-B14F-4D97-AF65-F5344CB8AC3E}">
        <p14:creationId xmlns:p14="http://schemas.microsoft.com/office/powerpoint/2010/main" val="314662759"/>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00C46-70B4-F8F6-784D-B33FFB83E29B}"/>
              </a:ext>
            </a:extLst>
          </p:cNvPr>
          <p:cNvSpPr>
            <a:spLocks noGrp="1"/>
          </p:cNvSpPr>
          <p:nvPr>
            <p:ph type="title"/>
          </p:nvPr>
        </p:nvSpPr>
        <p:spPr/>
        <p:txBody>
          <a:bodyPr/>
          <a:lstStyle/>
          <a:p>
            <a:r>
              <a:rPr lang="vi-VN"/>
              <a:t>III. Phương pháp song song hóa</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2832144-4E15-8737-A8A8-C6640CD4814C}"/>
                  </a:ext>
                </a:extLst>
              </p:cNvPr>
              <p:cNvSpPr>
                <a:spLocks noGrp="1"/>
              </p:cNvSpPr>
              <p:nvPr>
                <p:ph idx="1"/>
              </p:nvPr>
            </p:nvSpPr>
            <p:spPr>
              <a:xfrm>
                <a:off x="846589" y="1169774"/>
                <a:ext cx="10515600" cy="5007189"/>
              </a:xfrm>
            </p:spPr>
            <p:txBody>
              <a:bodyPr/>
              <a:lstStyle/>
              <a:p>
                <a:r>
                  <a:rPr lang="vi-VN" b="1"/>
                  <a:t>Giảm chuẩn Jacobi</a:t>
                </a:r>
                <a:r>
                  <a:rPr lang="vi-VN"/>
                  <a:t>:</a:t>
                </a:r>
              </a:p>
              <a:p>
                <a:pPr lvl="1"/>
                <a:r>
                  <a:rPr lang="vi-VN"/>
                  <a:t>Quy trình tại mỗi bước thực hiện:</a:t>
                </a:r>
              </a:p>
              <a:p>
                <a:pPr lvl="2"/>
                <a:r>
                  <a:rPr lang="vi-VN"/>
                  <a:t>Chia </a:t>
                </a:r>
                <a14:m>
                  <m:oMath xmlns:m="http://schemas.openxmlformats.org/officeDocument/2006/math">
                    <m:r>
                      <m:rPr>
                        <m:sty m:val="p"/>
                      </m:rPr>
                      <a:rPr lang="vi-VN">
                        <a:latin typeface="Cambria Math" panose="02040503050406030204" pitchFamily="18" charset="0"/>
                      </a:rPr>
                      <m:t>n</m:t>
                    </m:r>
                  </m:oMath>
                </a14:m>
                <a:r>
                  <a:rPr lang="vi-VN"/>
                  <a:t> hàng / cột thành các cặp </a:t>
                </a:r>
                <a14:m>
                  <m:oMath xmlns:m="http://schemas.openxmlformats.org/officeDocument/2006/math">
                    <m:d>
                      <m:dPr>
                        <m:ctrlPr>
                          <a:rPr lang="vi-VN" i="1" smtClean="0">
                            <a:latin typeface="Cambria Math" panose="02040503050406030204" pitchFamily="18" charset="0"/>
                          </a:rPr>
                        </m:ctrlPr>
                      </m:dPr>
                      <m:e>
                        <m:r>
                          <m:rPr>
                            <m:sty m:val="p"/>
                          </m:rPr>
                          <a:rPr lang="vi-VN" i="1">
                            <a:latin typeface="Cambria Math" panose="02040503050406030204" pitchFamily="18" charset="0"/>
                          </a:rPr>
                          <m:t>p</m:t>
                        </m:r>
                        <m:r>
                          <a:rPr lang="vi-VN" b="0" i="1" smtClean="0">
                            <a:latin typeface="Cambria Math" panose="02040503050406030204" pitchFamily="18" charset="0"/>
                          </a:rPr>
                          <m:t>,</m:t>
                        </m:r>
                        <m:r>
                          <m:rPr>
                            <m:sty m:val="p"/>
                          </m:rPr>
                          <a:rPr lang="vi-VN" i="1">
                            <a:latin typeface="Cambria Math" panose="02040503050406030204" pitchFamily="18" charset="0"/>
                          </a:rPr>
                          <m:t>q</m:t>
                        </m:r>
                      </m:e>
                    </m:d>
                  </m:oMath>
                </a14:m>
                <a:r>
                  <a:rPr lang="vi-VN"/>
                  <a:t> dựa trên chiến lược Round-Robin Tournament</a:t>
                </a:r>
              </a:p>
              <a:p>
                <a:pPr lvl="2"/>
                <a:r>
                  <a:rPr lang="vi-VN"/>
                  <a:t>Tính toán cục bộ tại mỗi luồng:</a:t>
                </a:r>
              </a:p>
              <a:p>
                <a:pPr lvl="3"/>
                <a:r>
                  <a:rPr lang="vi-VN"/>
                  <a:t>Lấy các phần tử </a:t>
                </a:r>
                <a14:m>
                  <m:oMath xmlns:m="http://schemas.openxmlformats.org/officeDocument/2006/math">
                    <m:sSub>
                      <m:sSubPr>
                        <m:ctrlPr>
                          <a:rPr lang="vi-VN" i="1" smtClean="0">
                            <a:latin typeface="Cambria Math" panose="02040503050406030204" pitchFamily="18" charset="0"/>
                          </a:rPr>
                        </m:ctrlPr>
                      </m:sSubPr>
                      <m:e>
                        <m:r>
                          <m:rPr>
                            <m:sty m:val="p"/>
                          </m:rPr>
                          <a:rPr lang="vi-VN" i="1">
                            <a:latin typeface="Cambria Math" panose="02040503050406030204" pitchFamily="18" charset="0"/>
                          </a:rPr>
                          <m:t>a</m:t>
                        </m:r>
                      </m:e>
                      <m:sub>
                        <m:r>
                          <m:rPr>
                            <m:sty m:val="p"/>
                          </m:rPr>
                          <a:rPr lang="vi-VN" i="1">
                            <a:latin typeface="Cambria Math" panose="02040503050406030204" pitchFamily="18" charset="0"/>
                          </a:rPr>
                          <m:t>pp</m:t>
                        </m:r>
                      </m:sub>
                    </m:sSub>
                    <m:r>
                      <a:rPr lang="vi-VN" b="0" i="1" smtClean="0">
                        <a:latin typeface="Cambria Math" panose="02040503050406030204" pitchFamily="18" charset="0"/>
                      </a:rPr>
                      <m:t>,</m:t>
                    </m:r>
                    <m:sSub>
                      <m:sSubPr>
                        <m:ctrlPr>
                          <a:rPr lang="vi-VN" i="1">
                            <a:latin typeface="Cambria Math" panose="02040503050406030204" pitchFamily="18" charset="0"/>
                          </a:rPr>
                        </m:ctrlPr>
                      </m:sSubPr>
                      <m:e>
                        <m:r>
                          <m:rPr>
                            <m:sty m:val="p"/>
                          </m:rPr>
                          <a:rPr lang="vi-VN" i="1">
                            <a:latin typeface="Cambria Math" panose="02040503050406030204" pitchFamily="18" charset="0"/>
                          </a:rPr>
                          <m:t>a</m:t>
                        </m:r>
                      </m:e>
                      <m:sub>
                        <m:r>
                          <m:rPr>
                            <m:sty m:val="p"/>
                          </m:rPr>
                          <a:rPr lang="vi-VN" i="1">
                            <a:latin typeface="Cambria Math" panose="02040503050406030204" pitchFamily="18" charset="0"/>
                          </a:rPr>
                          <m:t>qq</m:t>
                        </m:r>
                      </m:sub>
                    </m:sSub>
                    <m:r>
                      <a:rPr lang="vi-VN" b="0" i="1" smtClean="0">
                        <a:latin typeface="Cambria Math" panose="02040503050406030204" pitchFamily="18" charset="0"/>
                      </a:rPr>
                      <m:t>,</m:t>
                    </m:r>
                    <m:sSub>
                      <m:sSubPr>
                        <m:ctrlPr>
                          <a:rPr lang="vi-VN" i="1">
                            <a:latin typeface="Cambria Math" panose="02040503050406030204" pitchFamily="18" charset="0"/>
                          </a:rPr>
                        </m:ctrlPr>
                      </m:sSubPr>
                      <m:e>
                        <m:r>
                          <m:rPr>
                            <m:sty m:val="p"/>
                          </m:rPr>
                          <a:rPr lang="vi-VN" i="1">
                            <a:latin typeface="Cambria Math" panose="02040503050406030204" pitchFamily="18" charset="0"/>
                          </a:rPr>
                          <m:t>a</m:t>
                        </m:r>
                      </m:e>
                      <m:sub>
                        <m:r>
                          <m:rPr>
                            <m:sty m:val="p"/>
                          </m:rPr>
                          <a:rPr lang="vi-VN" i="1">
                            <a:latin typeface="Cambria Math" panose="02040503050406030204" pitchFamily="18" charset="0"/>
                          </a:rPr>
                          <m:t>pq</m:t>
                        </m:r>
                      </m:sub>
                    </m:sSub>
                  </m:oMath>
                </a14:m>
                <a:r>
                  <a:rPr lang="vi-VN"/>
                  <a:t> từ ma trận</a:t>
                </a:r>
              </a:p>
              <a:p>
                <a:pPr lvl="3"/>
                <a:r>
                  <a:rPr lang="vi-VN"/>
                  <a:t>Tính góc quay </a:t>
                </a:r>
                <a14:m>
                  <m:oMath xmlns:m="http://schemas.openxmlformats.org/officeDocument/2006/math">
                    <m:r>
                      <a:rPr lang="vi-VN" i="1" smtClean="0">
                        <a:latin typeface="Cambria Math" panose="02040503050406030204" pitchFamily="18" charset="0"/>
                        <a:ea typeface="Cambria Math" panose="02040503050406030204" pitchFamily="18" charset="0"/>
                      </a:rPr>
                      <m:t>𝜃</m:t>
                    </m:r>
                  </m:oMath>
                </a14:m>
                <a:endParaRPr lang="vi-VN"/>
              </a:p>
              <a:p>
                <a:pPr lvl="3"/>
                <a:r>
                  <a:rPr lang="vi-VN"/>
                  <a:t>Tính các giá trị </a:t>
                </a:r>
                <a14:m>
                  <m:oMath xmlns:m="http://schemas.openxmlformats.org/officeDocument/2006/math">
                    <m:func>
                      <m:funcPr>
                        <m:ctrlPr>
                          <a:rPr lang="vi-VN" i="1" smtClean="0">
                            <a:latin typeface="Cambria Math" panose="02040503050406030204" pitchFamily="18" charset="0"/>
                          </a:rPr>
                        </m:ctrlPr>
                      </m:funcPr>
                      <m:fName>
                        <m:r>
                          <m:rPr>
                            <m:sty m:val="p"/>
                          </m:rPr>
                          <a:rPr lang="vi-VN" i="0" smtClean="0">
                            <a:latin typeface="Cambria Math" panose="02040503050406030204" pitchFamily="18" charset="0"/>
                          </a:rPr>
                          <m:t>sin</m:t>
                        </m:r>
                      </m:fName>
                      <m:e>
                        <m:r>
                          <a:rPr lang="vi-VN" i="1">
                            <a:latin typeface="Cambria Math" panose="02040503050406030204" pitchFamily="18" charset="0"/>
                            <a:ea typeface="Cambria Math" panose="02040503050406030204" pitchFamily="18" charset="0"/>
                          </a:rPr>
                          <m:t>𝜃</m:t>
                        </m:r>
                      </m:e>
                    </m:func>
                    <m:func>
                      <m:funcPr>
                        <m:ctrlPr>
                          <a:rPr lang="vi-VN" i="1" smtClean="0">
                            <a:latin typeface="Cambria Math" panose="02040503050406030204" pitchFamily="18" charset="0"/>
                          </a:rPr>
                        </m:ctrlPr>
                      </m:funcPr>
                      <m:fName>
                        <m:r>
                          <a:rPr lang="vi-VN" b="0" i="1" smtClean="0">
                            <a:latin typeface="Cambria Math" panose="02040503050406030204" pitchFamily="18" charset="0"/>
                          </a:rPr>
                          <m:t>, </m:t>
                        </m:r>
                        <m:r>
                          <m:rPr>
                            <m:sty m:val="p"/>
                          </m:rPr>
                          <a:rPr lang="vi-VN" i="0" smtClean="0">
                            <a:latin typeface="Cambria Math" panose="02040503050406030204" pitchFamily="18" charset="0"/>
                          </a:rPr>
                          <m:t>cos</m:t>
                        </m:r>
                      </m:fName>
                      <m:e>
                        <m:r>
                          <a:rPr lang="vi-VN" i="1">
                            <a:latin typeface="Cambria Math" panose="02040503050406030204" pitchFamily="18" charset="0"/>
                            <a:ea typeface="Cambria Math" panose="02040503050406030204" pitchFamily="18" charset="0"/>
                          </a:rPr>
                          <m:t>𝜃</m:t>
                        </m:r>
                      </m:e>
                    </m:func>
                  </m:oMath>
                </a14:m>
                <a:r>
                  <a:rPr lang="vi-VN"/>
                  <a:t> </a:t>
                </a:r>
              </a:p>
              <a:p>
                <a:pPr lvl="2"/>
                <a:r>
                  <a:rPr lang="vi-VN"/>
                  <a:t>Cập nhật các hàng và cột của ma trận</a:t>
                </a:r>
              </a:p>
              <a:p>
                <a:pPr lvl="2"/>
                <a:r>
                  <a:rPr lang="vi-VN"/>
                  <a:t>Chờ các luồng hoàn thành bước hiện tại</a:t>
                </a:r>
              </a:p>
              <a:p>
                <a:pPr lvl="3"/>
                <a:endParaRPr lang="vi-VN"/>
              </a:p>
            </p:txBody>
          </p:sp>
        </mc:Choice>
        <mc:Fallback>
          <p:sp>
            <p:nvSpPr>
              <p:cNvPr id="3" name="Content Placeholder 2">
                <a:extLst>
                  <a:ext uri="{FF2B5EF4-FFF2-40B4-BE49-F238E27FC236}">
                    <a16:creationId xmlns:a16="http://schemas.microsoft.com/office/drawing/2014/main" id="{E2832144-4E15-8737-A8A8-C6640CD4814C}"/>
                  </a:ext>
                </a:extLst>
              </p:cNvPr>
              <p:cNvSpPr>
                <a:spLocks noGrp="1" noRot="1" noChangeAspect="1" noMove="1" noResize="1" noEditPoints="1" noAdjustHandles="1" noChangeArrowheads="1" noChangeShapeType="1" noTextEdit="1"/>
              </p:cNvSpPr>
              <p:nvPr>
                <p:ph idx="1"/>
              </p:nvPr>
            </p:nvSpPr>
            <p:spPr>
              <a:xfrm>
                <a:off x="846589" y="1169774"/>
                <a:ext cx="10515600" cy="5007189"/>
              </a:xfrm>
              <a:blipFill>
                <a:blip r:embed="rId2"/>
                <a:stretch>
                  <a:fillRect l="-1043"/>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39D97FE4-7AA6-EF9B-65A3-AD5220D1F032}"/>
              </a:ext>
            </a:extLst>
          </p:cNvPr>
          <p:cNvSpPr>
            <a:spLocks noGrp="1"/>
          </p:cNvSpPr>
          <p:nvPr>
            <p:ph type="sldNum" sz="quarter" idx="12"/>
          </p:nvPr>
        </p:nvSpPr>
        <p:spPr/>
        <p:txBody>
          <a:bodyPr/>
          <a:lstStyle/>
          <a:p>
            <a:fld id="{CBF310FD-C090-4C3A-AF23-E809F51E0484}" type="slidenum">
              <a:rPr lang="vi-VN" smtClean="0"/>
              <a:t>18</a:t>
            </a:fld>
            <a:endParaRPr lang="vi-VN"/>
          </a:p>
        </p:txBody>
      </p:sp>
    </p:spTree>
    <p:extLst>
      <p:ext uri="{BB962C8B-B14F-4D97-AF65-F5344CB8AC3E}">
        <p14:creationId xmlns:p14="http://schemas.microsoft.com/office/powerpoint/2010/main" val="67704915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2094AEB-F163-8C52-FB57-EF0D159768C4}"/>
              </a:ext>
            </a:extLst>
          </p:cNvPr>
          <p:cNvSpPr>
            <a:spLocks noGrp="1"/>
          </p:cNvSpPr>
          <p:nvPr>
            <p:ph type="title"/>
          </p:nvPr>
        </p:nvSpPr>
        <p:spPr/>
        <p:txBody>
          <a:bodyPr/>
          <a:lstStyle/>
          <a:p>
            <a:r>
              <a:rPr lang="vi-VN"/>
              <a:t>IV. Thực nghiệm và đánh giá</a:t>
            </a:r>
          </a:p>
        </p:txBody>
      </p:sp>
      <p:sp>
        <p:nvSpPr>
          <p:cNvPr id="5" name="Text Placeholder 4">
            <a:extLst>
              <a:ext uri="{FF2B5EF4-FFF2-40B4-BE49-F238E27FC236}">
                <a16:creationId xmlns:a16="http://schemas.microsoft.com/office/drawing/2014/main" id="{E2D703AC-498E-0E34-3EA5-0A0CF9CCB764}"/>
              </a:ext>
            </a:extLst>
          </p:cNvPr>
          <p:cNvSpPr>
            <a:spLocks noGrp="1"/>
          </p:cNvSpPr>
          <p:nvPr>
            <p:ph type="body" idx="1"/>
          </p:nvPr>
        </p:nvSpPr>
        <p:spPr/>
        <p:txBody>
          <a:bodyPr/>
          <a:lstStyle/>
          <a:p>
            <a:endParaRPr lang="vi-VN"/>
          </a:p>
        </p:txBody>
      </p:sp>
      <p:sp>
        <p:nvSpPr>
          <p:cNvPr id="2" name="Slide Number Placeholder 1">
            <a:extLst>
              <a:ext uri="{FF2B5EF4-FFF2-40B4-BE49-F238E27FC236}">
                <a16:creationId xmlns:a16="http://schemas.microsoft.com/office/drawing/2014/main" id="{A71615E0-8E95-B832-B3D2-CA9C3230E302}"/>
              </a:ext>
            </a:extLst>
          </p:cNvPr>
          <p:cNvSpPr>
            <a:spLocks noGrp="1"/>
          </p:cNvSpPr>
          <p:nvPr>
            <p:ph type="sldNum" sz="quarter" idx="12"/>
          </p:nvPr>
        </p:nvSpPr>
        <p:spPr/>
        <p:txBody>
          <a:bodyPr/>
          <a:lstStyle/>
          <a:p>
            <a:fld id="{CBF310FD-C090-4C3A-AF23-E809F51E0484}" type="slidenum">
              <a:rPr lang="vi-VN" smtClean="0"/>
              <a:t>19</a:t>
            </a:fld>
            <a:endParaRPr lang="vi-VN"/>
          </a:p>
        </p:txBody>
      </p:sp>
    </p:spTree>
    <p:extLst>
      <p:ext uri="{BB962C8B-B14F-4D97-AF65-F5344CB8AC3E}">
        <p14:creationId xmlns:p14="http://schemas.microsoft.com/office/powerpoint/2010/main" val="128447557"/>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7206CA8-259A-7B9C-834E-051FE669C7C0}"/>
              </a:ext>
            </a:extLst>
          </p:cNvPr>
          <p:cNvSpPr>
            <a:spLocks noGrp="1"/>
          </p:cNvSpPr>
          <p:nvPr>
            <p:ph type="title"/>
          </p:nvPr>
        </p:nvSpPr>
        <p:spPr/>
        <p:txBody>
          <a:bodyPr/>
          <a:lstStyle/>
          <a:p>
            <a:r>
              <a:rPr lang="vi-VN"/>
              <a:t>IV. Thực nghiệm và đánh giá</a:t>
            </a:r>
          </a:p>
        </p:txBody>
      </p:sp>
      <p:sp>
        <p:nvSpPr>
          <p:cNvPr id="5" name="Content Placeholder 4">
            <a:extLst>
              <a:ext uri="{FF2B5EF4-FFF2-40B4-BE49-F238E27FC236}">
                <a16:creationId xmlns:a16="http://schemas.microsoft.com/office/drawing/2014/main" id="{47E63182-8622-E3D3-2092-BFC2F4098F7C}"/>
              </a:ext>
            </a:extLst>
          </p:cNvPr>
          <p:cNvSpPr>
            <a:spLocks noGrp="1"/>
          </p:cNvSpPr>
          <p:nvPr>
            <p:ph idx="1"/>
          </p:nvPr>
        </p:nvSpPr>
        <p:spPr/>
        <p:txBody>
          <a:bodyPr/>
          <a:lstStyle/>
          <a:p>
            <a:r>
              <a:rPr lang="vi-VN" b="1"/>
              <a:t>Môi trường thực nghiệm</a:t>
            </a:r>
            <a:r>
              <a:rPr lang="vi-VN"/>
              <a:t>:</a:t>
            </a:r>
          </a:p>
          <a:p>
            <a:pPr lvl="1"/>
            <a:r>
              <a:rPr lang="vi-VN"/>
              <a:t>Vi xử lý: AMD Ryzen 5 6600HS</a:t>
            </a:r>
          </a:p>
          <a:p>
            <a:pPr lvl="2"/>
            <a:r>
              <a:rPr lang="vi-VN"/>
              <a:t>Số nhân / luồng: 6 nhân / 12 luồng</a:t>
            </a:r>
          </a:p>
          <a:p>
            <a:pPr lvl="2"/>
            <a:r>
              <a:rPr lang="vi-VN"/>
              <a:t>Tần số cơ bản: 3.3 GHz lên đến 4.5 GHz</a:t>
            </a:r>
          </a:p>
          <a:p>
            <a:pPr lvl="2"/>
            <a:r>
              <a:rPr lang="vi-VN"/>
              <a:t>Bộ nhớ DDR5</a:t>
            </a:r>
          </a:p>
          <a:p>
            <a:pPr lvl="2"/>
            <a:endParaRPr lang="vi-VN"/>
          </a:p>
        </p:txBody>
      </p:sp>
      <p:sp>
        <p:nvSpPr>
          <p:cNvPr id="2" name="Slide Number Placeholder 1">
            <a:extLst>
              <a:ext uri="{FF2B5EF4-FFF2-40B4-BE49-F238E27FC236}">
                <a16:creationId xmlns:a16="http://schemas.microsoft.com/office/drawing/2014/main" id="{CBA3EC54-CAC3-7971-950A-B88D82F759EC}"/>
              </a:ext>
            </a:extLst>
          </p:cNvPr>
          <p:cNvSpPr>
            <a:spLocks noGrp="1"/>
          </p:cNvSpPr>
          <p:nvPr>
            <p:ph type="sldNum" sz="quarter" idx="12"/>
          </p:nvPr>
        </p:nvSpPr>
        <p:spPr/>
        <p:txBody>
          <a:bodyPr/>
          <a:lstStyle/>
          <a:p>
            <a:fld id="{CBF310FD-C090-4C3A-AF23-E809F51E0484}" type="slidenum">
              <a:rPr lang="vi-VN" smtClean="0"/>
              <a:t>20</a:t>
            </a:fld>
            <a:endParaRPr lang="vi-VN"/>
          </a:p>
        </p:txBody>
      </p:sp>
    </p:spTree>
    <p:extLst>
      <p:ext uri="{BB962C8B-B14F-4D97-AF65-F5344CB8AC3E}">
        <p14:creationId xmlns:p14="http://schemas.microsoft.com/office/powerpoint/2010/main" val="326264413"/>
      </p:ext>
    </p:extLst>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6D775-0AC5-BAC7-7A74-F5D126CA36D4}"/>
              </a:ext>
            </a:extLst>
          </p:cNvPr>
          <p:cNvSpPr>
            <a:spLocks noGrp="1"/>
          </p:cNvSpPr>
          <p:nvPr>
            <p:ph type="title"/>
          </p:nvPr>
        </p:nvSpPr>
        <p:spPr/>
        <p:txBody>
          <a:bodyPr/>
          <a:lstStyle/>
          <a:p>
            <a:r>
              <a:rPr lang="vi-VN"/>
              <a:t>IV. Thực nghiệm và đánh giá</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781B9A4-6A5B-D2C1-695A-198D0744C572}"/>
                  </a:ext>
                </a:extLst>
              </p:cNvPr>
              <p:cNvSpPr>
                <a:spLocks noGrp="1"/>
              </p:cNvSpPr>
              <p:nvPr>
                <p:ph idx="1"/>
              </p:nvPr>
            </p:nvSpPr>
            <p:spPr/>
            <p:txBody>
              <a:bodyPr/>
              <a:lstStyle/>
              <a:p>
                <a:r>
                  <a:rPr lang="vi-VN"/>
                  <a:t>Bộ dữ liệu dùng để đánh giá gồm các ma trận được sinh ngẫu nhiên với các kích thước khác nhau:</a:t>
                </a:r>
              </a:p>
              <a:p>
                <a:pPr lvl="1"/>
                <a:r>
                  <a:rPr lang="vi-VN"/>
                  <a:t>Các phần tử trong ma trận là số thực nằm trong khoảng </a:t>
                </a:r>
                <a14:m>
                  <m:oMath xmlns:m="http://schemas.openxmlformats.org/officeDocument/2006/math">
                    <m:d>
                      <m:dPr>
                        <m:begChr m:val="["/>
                        <m:endChr m:val="]"/>
                        <m:ctrlPr>
                          <a:rPr lang="vi-VN" i="1" smtClean="0">
                            <a:latin typeface="Cambria Math" panose="02040503050406030204" pitchFamily="18" charset="0"/>
                          </a:rPr>
                        </m:ctrlPr>
                      </m:dPr>
                      <m:e>
                        <m:r>
                          <a:rPr lang="vi-VN" i="1">
                            <a:latin typeface="Cambria Math" panose="02040503050406030204" pitchFamily="18" charset="0"/>
                          </a:rPr>
                          <m:t>0</m:t>
                        </m:r>
                        <m:r>
                          <a:rPr lang="vi-VN" b="0" i="1" smtClean="0">
                            <a:latin typeface="Cambria Math" panose="02040503050406030204" pitchFamily="18" charset="0"/>
                          </a:rPr>
                          <m:t>, </m:t>
                        </m:r>
                        <m:r>
                          <a:rPr lang="vi-VN" i="1">
                            <a:latin typeface="Cambria Math" panose="02040503050406030204" pitchFamily="18" charset="0"/>
                          </a:rPr>
                          <m:t>1000</m:t>
                        </m:r>
                      </m:e>
                    </m:d>
                  </m:oMath>
                </a14:m>
                <a:endParaRPr lang="vi-VN"/>
              </a:p>
              <a:p>
                <a:pPr lvl="1"/>
                <a:r>
                  <a:rPr lang="vi-VN"/>
                  <a:t>Các kích thước ma trận sử dụng trong quá trình thực nghiệm:</a:t>
                </a:r>
              </a:p>
            </p:txBody>
          </p:sp>
        </mc:Choice>
        <mc:Fallback xmlns="">
          <p:sp>
            <p:nvSpPr>
              <p:cNvPr id="3" name="Content Placeholder 2">
                <a:extLst>
                  <a:ext uri="{FF2B5EF4-FFF2-40B4-BE49-F238E27FC236}">
                    <a16:creationId xmlns:a16="http://schemas.microsoft.com/office/drawing/2014/main" id="{4781B9A4-6A5B-D2C1-695A-198D0744C572}"/>
                  </a:ext>
                </a:extLst>
              </p:cNvPr>
              <p:cNvSpPr>
                <a:spLocks noGrp="1" noRot="1" noChangeAspect="1" noMove="1" noResize="1" noEditPoints="1" noAdjustHandles="1" noChangeArrowheads="1" noChangeShapeType="1" noTextEdit="1"/>
              </p:cNvSpPr>
              <p:nvPr>
                <p:ph idx="1"/>
              </p:nvPr>
            </p:nvSpPr>
            <p:spPr>
              <a:blipFill>
                <a:blip r:embed="rId2"/>
                <a:stretch>
                  <a:fillRect l="-1043" t="-2192"/>
                </a:stretch>
              </a:blipFill>
            </p:spPr>
            <p:txBody>
              <a:bodyPr/>
              <a:lstStyle/>
              <a:p>
                <a:r>
                  <a:rPr lang="vi-VN">
                    <a:noFill/>
                  </a:rPr>
                  <a:t> </a:t>
                </a:r>
              </a:p>
            </p:txBody>
          </p:sp>
        </mc:Fallback>
      </mc:AlternateContent>
      <p:pic>
        <p:nvPicPr>
          <p:cNvPr id="5" name="Picture 4">
            <a:extLst>
              <a:ext uri="{FF2B5EF4-FFF2-40B4-BE49-F238E27FC236}">
                <a16:creationId xmlns:a16="http://schemas.microsoft.com/office/drawing/2014/main" id="{159EDAFE-A3D2-3DC5-5876-9A85B6233B2F}"/>
              </a:ext>
            </a:extLst>
          </p:cNvPr>
          <p:cNvPicPr>
            <a:picLocks noChangeAspect="1"/>
          </p:cNvPicPr>
          <p:nvPr/>
        </p:nvPicPr>
        <p:blipFill>
          <a:blip r:embed="rId3"/>
          <a:stretch>
            <a:fillRect/>
          </a:stretch>
        </p:blipFill>
        <p:spPr>
          <a:xfrm>
            <a:off x="2932670" y="3429000"/>
            <a:ext cx="6326660" cy="2700080"/>
          </a:xfrm>
          <a:prstGeom prst="rect">
            <a:avLst/>
          </a:prstGeom>
        </p:spPr>
      </p:pic>
      <p:sp>
        <p:nvSpPr>
          <p:cNvPr id="4" name="Slide Number Placeholder 3">
            <a:extLst>
              <a:ext uri="{FF2B5EF4-FFF2-40B4-BE49-F238E27FC236}">
                <a16:creationId xmlns:a16="http://schemas.microsoft.com/office/drawing/2014/main" id="{959A6044-359A-BDF5-1514-0BE2898406CC}"/>
              </a:ext>
            </a:extLst>
          </p:cNvPr>
          <p:cNvSpPr>
            <a:spLocks noGrp="1"/>
          </p:cNvSpPr>
          <p:nvPr>
            <p:ph type="sldNum" sz="quarter" idx="12"/>
          </p:nvPr>
        </p:nvSpPr>
        <p:spPr/>
        <p:txBody>
          <a:bodyPr/>
          <a:lstStyle/>
          <a:p>
            <a:fld id="{CBF310FD-C090-4C3A-AF23-E809F51E0484}" type="slidenum">
              <a:rPr lang="vi-VN" smtClean="0"/>
              <a:t>21</a:t>
            </a:fld>
            <a:endParaRPr lang="vi-VN"/>
          </a:p>
        </p:txBody>
      </p:sp>
    </p:spTree>
    <p:extLst>
      <p:ext uri="{BB962C8B-B14F-4D97-AF65-F5344CB8AC3E}">
        <p14:creationId xmlns:p14="http://schemas.microsoft.com/office/powerpoint/2010/main" val="2545010797"/>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524185E-8180-64AE-2B92-727D9E815439}"/>
              </a:ext>
            </a:extLst>
          </p:cNvPr>
          <p:cNvSpPr>
            <a:spLocks noGrp="1"/>
          </p:cNvSpPr>
          <p:nvPr>
            <p:ph type="body" idx="1"/>
          </p:nvPr>
        </p:nvSpPr>
        <p:spPr/>
        <p:txBody>
          <a:bodyPr/>
          <a:lstStyle/>
          <a:p>
            <a:r>
              <a:rPr lang="vi-VN"/>
              <a:t>Nhân ma trận</a:t>
            </a:r>
          </a:p>
        </p:txBody>
      </p:sp>
      <p:pic>
        <p:nvPicPr>
          <p:cNvPr id="11" name="Content Placeholder 10">
            <a:extLst>
              <a:ext uri="{FF2B5EF4-FFF2-40B4-BE49-F238E27FC236}">
                <a16:creationId xmlns:a16="http://schemas.microsoft.com/office/drawing/2014/main" id="{E3D71B1B-B84D-FAC7-433E-D08EA6C343B9}"/>
              </a:ext>
            </a:extLst>
          </p:cNvPr>
          <p:cNvPicPr>
            <a:picLocks noGrp="1" noChangeAspect="1"/>
          </p:cNvPicPr>
          <p:nvPr>
            <p:ph sz="half" idx="2"/>
          </p:nvPr>
        </p:nvPicPr>
        <p:blipFill>
          <a:blip r:embed="rId2"/>
          <a:stretch>
            <a:fillRect/>
          </a:stretch>
        </p:blipFill>
        <p:spPr>
          <a:xfrm>
            <a:off x="839788" y="1896731"/>
            <a:ext cx="5157787" cy="4175788"/>
          </a:xfrm>
          <a:prstGeom prst="rect">
            <a:avLst/>
          </a:prstGeom>
        </p:spPr>
      </p:pic>
      <p:sp>
        <p:nvSpPr>
          <p:cNvPr id="6" name="Text Placeholder 5">
            <a:extLst>
              <a:ext uri="{FF2B5EF4-FFF2-40B4-BE49-F238E27FC236}">
                <a16:creationId xmlns:a16="http://schemas.microsoft.com/office/drawing/2014/main" id="{4939B821-52E6-9DDE-45AF-F7A9B8DFCA90}"/>
              </a:ext>
            </a:extLst>
          </p:cNvPr>
          <p:cNvSpPr>
            <a:spLocks noGrp="1"/>
          </p:cNvSpPr>
          <p:nvPr>
            <p:ph type="body" sz="quarter" idx="3"/>
          </p:nvPr>
        </p:nvSpPr>
        <p:spPr/>
        <p:txBody>
          <a:bodyPr/>
          <a:lstStyle/>
          <a:p>
            <a:endParaRPr lang="vi-VN"/>
          </a:p>
        </p:txBody>
      </p:sp>
      <p:pic>
        <p:nvPicPr>
          <p:cNvPr id="13" name="Content Placeholder 12">
            <a:extLst>
              <a:ext uri="{FF2B5EF4-FFF2-40B4-BE49-F238E27FC236}">
                <a16:creationId xmlns:a16="http://schemas.microsoft.com/office/drawing/2014/main" id="{34F6DAE6-6A69-193F-AE10-00E5E2D03511}"/>
              </a:ext>
            </a:extLst>
          </p:cNvPr>
          <p:cNvPicPr>
            <a:picLocks noGrp="1" noChangeAspect="1"/>
          </p:cNvPicPr>
          <p:nvPr>
            <p:ph sz="quarter" idx="4"/>
          </p:nvPr>
        </p:nvPicPr>
        <p:blipFill>
          <a:blip r:embed="rId3"/>
          <a:stretch>
            <a:fillRect/>
          </a:stretch>
        </p:blipFill>
        <p:spPr>
          <a:xfrm>
            <a:off x="6172200" y="1886449"/>
            <a:ext cx="5183188" cy="4196353"/>
          </a:xfrm>
          <a:prstGeom prst="rect">
            <a:avLst/>
          </a:prstGeom>
        </p:spPr>
      </p:pic>
      <p:sp>
        <p:nvSpPr>
          <p:cNvPr id="7" name="Title 6">
            <a:extLst>
              <a:ext uri="{FF2B5EF4-FFF2-40B4-BE49-F238E27FC236}">
                <a16:creationId xmlns:a16="http://schemas.microsoft.com/office/drawing/2014/main" id="{E6F0396B-7CE3-A4C7-8FCB-08C3E659E318}"/>
              </a:ext>
            </a:extLst>
          </p:cNvPr>
          <p:cNvSpPr>
            <a:spLocks noGrp="1"/>
          </p:cNvSpPr>
          <p:nvPr>
            <p:ph type="title"/>
          </p:nvPr>
        </p:nvSpPr>
        <p:spPr/>
        <p:txBody>
          <a:bodyPr/>
          <a:lstStyle/>
          <a:p>
            <a:r>
              <a:rPr lang="vi-VN"/>
              <a:t>IV. Thực nghiệm và đánh giá</a:t>
            </a:r>
          </a:p>
        </p:txBody>
      </p:sp>
      <p:sp>
        <p:nvSpPr>
          <p:cNvPr id="14" name="Slide Number Placeholder 13">
            <a:extLst>
              <a:ext uri="{FF2B5EF4-FFF2-40B4-BE49-F238E27FC236}">
                <a16:creationId xmlns:a16="http://schemas.microsoft.com/office/drawing/2014/main" id="{1341689D-96B4-658B-933C-FE7B0EA656FF}"/>
              </a:ext>
            </a:extLst>
          </p:cNvPr>
          <p:cNvSpPr>
            <a:spLocks noGrp="1"/>
          </p:cNvSpPr>
          <p:nvPr>
            <p:ph type="sldNum" sz="quarter" idx="12"/>
          </p:nvPr>
        </p:nvSpPr>
        <p:spPr/>
        <p:txBody>
          <a:bodyPr/>
          <a:lstStyle/>
          <a:p>
            <a:fld id="{CBF310FD-C090-4C3A-AF23-E809F51E0484}" type="slidenum">
              <a:rPr lang="vi-VN" smtClean="0"/>
              <a:t>22</a:t>
            </a:fld>
            <a:endParaRPr lang="vi-VN"/>
          </a:p>
        </p:txBody>
      </p:sp>
    </p:spTree>
    <p:extLst>
      <p:ext uri="{BB962C8B-B14F-4D97-AF65-F5344CB8AC3E}">
        <p14:creationId xmlns:p14="http://schemas.microsoft.com/office/powerpoint/2010/main" val="2838167128"/>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2702834-EE21-0B12-D236-21172AD9EECA}"/>
              </a:ext>
            </a:extLst>
          </p:cNvPr>
          <p:cNvSpPr>
            <a:spLocks noGrp="1"/>
          </p:cNvSpPr>
          <p:nvPr>
            <p:ph type="title"/>
          </p:nvPr>
        </p:nvSpPr>
        <p:spPr/>
        <p:txBody>
          <a:bodyPr/>
          <a:lstStyle/>
          <a:p>
            <a:r>
              <a:rPr lang="vi-VN"/>
              <a:t>IV. Thực nghiệm</a:t>
            </a:r>
            <a:br>
              <a:rPr lang="vi-VN"/>
            </a:br>
            <a:r>
              <a:rPr lang="vi-VN"/>
              <a:t>và đánh giá</a:t>
            </a:r>
          </a:p>
        </p:txBody>
      </p:sp>
      <p:pic>
        <p:nvPicPr>
          <p:cNvPr id="11" name="Picture Placeholder 10">
            <a:extLst>
              <a:ext uri="{FF2B5EF4-FFF2-40B4-BE49-F238E27FC236}">
                <a16:creationId xmlns:a16="http://schemas.microsoft.com/office/drawing/2014/main" id="{4A6225D6-DED1-AC93-398E-49F8B78EE033}"/>
              </a:ext>
            </a:extLst>
          </p:cNvPr>
          <p:cNvPicPr>
            <a:picLocks noGrp="1" noChangeAspect="1"/>
          </p:cNvPicPr>
          <p:nvPr>
            <p:ph type="pic" idx="1"/>
          </p:nvPr>
        </p:nvPicPr>
        <p:blipFill>
          <a:blip r:embed="rId2"/>
          <a:srcRect t="429" b="169"/>
          <a:stretch>
            <a:fillRect/>
          </a:stretch>
        </p:blipFill>
        <p:spPr>
          <a:xfrm>
            <a:off x="4772025" y="823785"/>
            <a:ext cx="6583363" cy="5214550"/>
          </a:xfrm>
          <a:prstGeom prst="rect">
            <a:avLst/>
          </a:prstGeom>
        </p:spPr>
      </p:pic>
      <p:sp>
        <p:nvSpPr>
          <p:cNvPr id="9" name="Text Placeholder 8">
            <a:extLst>
              <a:ext uri="{FF2B5EF4-FFF2-40B4-BE49-F238E27FC236}">
                <a16:creationId xmlns:a16="http://schemas.microsoft.com/office/drawing/2014/main" id="{B0142A12-DB09-3368-633F-21794FB31C27}"/>
              </a:ext>
            </a:extLst>
          </p:cNvPr>
          <p:cNvSpPr>
            <a:spLocks noGrp="1"/>
          </p:cNvSpPr>
          <p:nvPr>
            <p:ph type="body" sz="half" idx="2"/>
          </p:nvPr>
        </p:nvSpPr>
        <p:spPr/>
        <p:txBody>
          <a:bodyPr/>
          <a:lstStyle/>
          <a:p>
            <a:r>
              <a:rPr lang="vi-VN"/>
              <a:t>Giảm chuẩn Jacobi</a:t>
            </a:r>
          </a:p>
        </p:txBody>
      </p:sp>
      <p:sp>
        <p:nvSpPr>
          <p:cNvPr id="12" name="Slide Number Placeholder 11">
            <a:extLst>
              <a:ext uri="{FF2B5EF4-FFF2-40B4-BE49-F238E27FC236}">
                <a16:creationId xmlns:a16="http://schemas.microsoft.com/office/drawing/2014/main" id="{3DF93082-3E5A-1C98-D69A-680738819D05}"/>
              </a:ext>
            </a:extLst>
          </p:cNvPr>
          <p:cNvSpPr>
            <a:spLocks noGrp="1"/>
          </p:cNvSpPr>
          <p:nvPr>
            <p:ph type="sldNum" sz="quarter" idx="12"/>
          </p:nvPr>
        </p:nvSpPr>
        <p:spPr/>
        <p:txBody>
          <a:bodyPr/>
          <a:lstStyle/>
          <a:p>
            <a:fld id="{CBF310FD-C090-4C3A-AF23-E809F51E0484}" type="slidenum">
              <a:rPr lang="vi-VN" smtClean="0"/>
              <a:t>23</a:t>
            </a:fld>
            <a:endParaRPr lang="vi-VN"/>
          </a:p>
        </p:txBody>
      </p:sp>
    </p:spTree>
    <p:extLst>
      <p:ext uri="{BB962C8B-B14F-4D97-AF65-F5344CB8AC3E}">
        <p14:creationId xmlns:p14="http://schemas.microsoft.com/office/powerpoint/2010/main" val="2540773411"/>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BC3613A-594B-AA35-56B1-2D06D9ED18C0}"/>
              </a:ext>
            </a:extLst>
          </p:cNvPr>
          <p:cNvSpPr>
            <a:spLocks noGrp="1"/>
          </p:cNvSpPr>
          <p:nvPr>
            <p:ph type="title"/>
          </p:nvPr>
        </p:nvSpPr>
        <p:spPr/>
        <p:txBody>
          <a:bodyPr/>
          <a:lstStyle/>
          <a:p>
            <a:r>
              <a:rPr lang="vi-VN"/>
              <a:t>IV. Thực nghiệm</a:t>
            </a:r>
            <a:br>
              <a:rPr lang="vi-VN"/>
            </a:br>
            <a:r>
              <a:rPr lang="vi-VN"/>
              <a:t>và đánh giá</a:t>
            </a:r>
          </a:p>
        </p:txBody>
      </p:sp>
      <p:pic>
        <p:nvPicPr>
          <p:cNvPr id="11" name="Picture Placeholder 10">
            <a:extLst>
              <a:ext uri="{FF2B5EF4-FFF2-40B4-BE49-F238E27FC236}">
                <a16:creationId xmlns:a16="http://schemas.microsoft.com/office/drawing/2014/main" id="{893E8CBA-F32D-114C-583C-7799EFDDCC3E}"/>
              </a:ext>
            </a:extLst>
          </p:cNvPr>
          <p:cNvPicPr>
            <a:picLocks noGrp="1" noChangeAspect="1"/>
          </p:cNvPicPr>
          <p:nvPr>
            <p:ph type="pic" idx="1"/>
          </p:nvPr>
        </p:nvPicPr>
        <p:blipFill>
          <a:blip r:embed="rId2"/>
          <a:srcRect t="818" b="818"/>
          <a:stretch/>
        </p:blipFill>
        <p:spPr>
          <a:prstGeom prst="rect">
            <a:avLst/>
          </a:prstGeom>
        </p:spPr>
      </p:pic>
      <p:sp>
        <p:nvSpPr>
          <p:cNvPr id="7" name="Text Placeholder 6">
            <a:extLst>
              <a:ext uri="{FF2B5EF4-FFF2-40B4-BE49-F238E27FC236}">
                <a16:creationId xmlns:a16="http://schemas.microsoft.com/office/drawing/2014/main" id="{EF3CCCBA-1CF8-2458-971B-D6576CD8AD7F}"/>
              </a:ext>
            </a:extLst>
          </p:cNvPr>
          <p:cNvSpPr>
            <a:spLocks noGrp="1"/>
          </p:cNvSpPr>
          <p:nvPr>
            <p:ph type="body" sz="half" idx="2"/>
          </p:nvPr>
        </p:nvSpPr>
        <p:spPr/>
        <p:txBody>
          <a:bodyPr/>
          <a:lstStyle/>
          <a:p>
            <a:r>
              <a:rPr lang="vi-VN"/>
              <a:t>Sắp xếp mảng</a:t>
            </a:r>
          </a:p>
        </p:txBody>
      </p:sp>
      <p:sp>
        <p:nvSpPr>
          <p:cNvPr id="12" name="Slide Number Placeholder 11">
            <a:extLst>
              <a:ext uri="{FF2B5EF4-FFF2-40B4-BE49-F238E27FC236}">
                <a16:creationId xmlns:a16="http://schemas.microsoft.com/office/drawing/2014/main" id="{DDD6FA97-038E-B78D-4B8C-A8C74D46EC6F}"/>
              </a:ext>
            </a:extLst>
          </p:cNvPr>
          <p:cNvSpPr>
            <a:spLocks noGrp="1"/>
          </p:cNvSpPr>
          <p:nvPr>
            <p:ph type="sldNum" sz="quarter" idx="12"/>
          </p:nvPr>
        </p:nvSpPr>
        <p:spPr/>
        <p:txBody>
          <a:bodyPr/>
          <a:lstStyle/>
          <a:p>
            <a:fld id="{CBF310FD-C090-4C3A-AF23-E809F51E0484}" type="slidenum">
              <a:rPr lang="vi-VN" smtClean="0"/>
              <a:t>24</a:t>
            </a:fld>
            <a:endParaRPr lang="vi-VN"/>
          </a:p>
        </p:txBody>
      </p:sp>
    </p:spTree>
    <p:extLst>
      <p:ext uri="{BB962C8B-B14F-4D97-AF65-F5344CB8AC3E}">
        <p14:creationId xmlns:p14="http://schemas.microsoft.com/office/powerpoint/2010/main" val="3670555022"/>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6776B-E4BC-7298-BFE5-2F38ECB8D520}"/>
              </a:ext>
            </a:extLst>
          </p:cNvPr>
          <p:cNvSpPr>
            <a:spLocks noGrp="1"/>
          </p:cNvSpPr>
          <p:nvPr>
            <p:ph type="title"/>
          </p:nvPr>
        </p:nvSpPr>
        <p:spPr/>
        <p:txBody>
          <a:bodyPr/>
          <a:lstStyle/>
          <a:p>
            <a:r>
              <a:rPr lang="vi-VN"/>
              <a:t>IV. Thực nghiệm</a:t>
            </a:r>
            <a:br>
              <a:rPr lang="vi-VN"/>
            </a:br>
            <a:r>
              <a:rPr lang="vi-VN"/>
              <a:t>và đánh giá</a:t>
            </a:r>
          </a:p>
        </p:txBody>
      </p:sp>
      <p:pic>
        <p:nvPicPr>
          <p:cNvPr id="8" name="Picture Placeholder 7">
            <a:extLst>
              <a:ext uri="{FF2B5EF4-FFF2-40B4-BE49-F238E27FC236}">
                <a16:creationId xmlns:a16="http://schemas.microsoft.com/office/drawing/2014/main" id="{422ECAFF-09AC-EFF7-C4E9-CCB2B7082D82}"/>
              </a:ext>
            </a:extLst>
          </p:cNvPr>
          <p:cNvPicPr>
            <a:picLocks noGrp="1" noChangeAspect="1"/>
          </p:cNvPicPr>
          <p:nvPr>
            <p:ph type="pic" idx="1"/>
          </p:nvPr>
        </p:nvPicPr>
        <p:blipFill>
          <a:blip r:embed="rId2"/>
          <a:srcRect t="163" b="163"/>
          <a:stretch/>
        </p:blipFill>
        <p:spPr>
          <a:prstGeom prst="rect">
            <a:avLst/>
          </a:prstGeom>
        </p:spPr>
      </p:pic>
      <p:sp>
        <p:nvSpPr>
          <p:cNvPr id="4" name="Text Placeholder 3">
            <a:extLst>
              <a:ext uri="{FF2B5EF4-FFF2-40B4-BE49-F238E27FC236}">
                <a16:creationId xmlns:a16="http://schemas.microsoft.com/office/drawing/2014/main" id="{6B0541E2-3034-AC1A-5227-B886F6458F71}"/>
              </a:ext>
            </a:extLst>
          </p:cNvPr>
          <p:cNvSpPr>
            <a:spLocks noGrp="1"/>
          </p:cNvSpPr>
          <p:nvPr>
            <p:ph type="body" sz="half" idx="2"/>
          </p:nvPr>
        </p:nvSpPr>
        <p:spPr/>
        <p:txBody>
          <a:bodyPr/>
          <a:lstStyle/>
          <a:p>
            <a:r>
              <a:rPr lang="vi-VN"/>
              <a:t>Chuyển vị ma trận</a:t>
            </a:r>
          </a:p>
        </p:txBody>
      </p:sp>
      <p:sp>
        <p:nvSpPr>
          <p:cNvPr id="9" name="Slide Number Placeholder 8">
            <a:extLst>
              <a:ext uri="{FF2B5EF4-FFF2-40B4-BE49-F238E27FC236}">
                <a16:creationId xmlns:a16="http://schemas.microsoft.com/office/drawing/2014/main" id="{81E5A805-7305-04BF-248A-D812717D9264}"/>
              </a:ext>
            </a:extLst>
          </p:cNvPr>
          <p:cNvSpPr>
            <a:spLocks noGrp="1"/>
          </p:cNvSpPr>
          <p:nvPr>
            <p:ph type="sldNum" sz="quarter" idx="12"/>
          </p:nvPr>
        </p:nvSpPr>
        <p:spPr/>
        <p:txBody>
          <a:bodyPr/>
          <a:lstStyle/>
          <a:p>
            <a:fld id="{CBF310FD-C090-4C3A-AF23-E809F51E0484}" type="slidenum">
              <a:rPr lang="vi-VN" smtClean="0"/>
              <a:t>25</a:t>
            </a:fld>
            <a:endParaRPr lang="vi-VN"/>
          </a:p>
        </p:txBody>
      </p:sp>
    </p:spTree>
    <p:extLst>
      <p:ext uri="{BB962C8B-B14F-4D97-AF65-F5344CB8AC3E}">
        <p14:creationId xmlns:p14="http://schemas.microsoft.com/office/powerpoint/2010/main" val="77418084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84E83-705D-90D0-144C-F121E308E3A8}"/>
              </a:ext>
            </a:extLst>
          </p:cNvPr>
          <p:cNvSpPr>
            <a:spLocks noGrp="1"/>
          </p:cNvSpPr>
          <p:nvPr>
            <p:ph type="title"/>
          </p:nvPr>
        </p:nvSpPr>
        <p:spPr/>
        <p:txBody>
          <a:bodyPr/>
          <a:lstStyle/>
          <a:p>
            <a:r>
              <a:rPr lang="vi-VN"/>
              <a:t>IV. Thực nghiệm</a:t>
            </a:r>
            <a:br>
              <a:rPr lang="vi-VN"/>
            </a:br>
            <a:r>
              <a:rPr lang="vi-VN"/>
              <a:t>và đánh giá</a:t>
            </a:r>
          </a:p>
        </p:txBody>
      </p:sp>
      <p:pic>
        <p:nvPicPr>
          <p:cNvPr id="6" name="Picture Placeholder 5">
            <a:extLst>
              <a:ext uri="{FF2B5EF4-FFF2-40B4-BE49-F238E27FC236}">
                <a16:creationId xmlns:a16="http://schemas.microsoft.com/office/drawing/2014/main" id="{24A7CC4C-8AF1-748F-BCAB-8A7ECF7ED5CE}"/>
              </a:ext>
            </a:extLst>
          </p:cNvPr>
          <p:cNvPicPr>
            <a:picLocks noGrp="1" noChangeAspect="1"/>
          </p:cNvPicPr>
          <p:nvPr>
            <p:ph type="pic" idx="1"/>
          </p:nvPr>
        </p:nvPicPr>
        <p:blipFill>
          <a:blip r:embed="rId2"/>
          <a:srcRect l="630" r="630"/>
          <a:stretch/>
        </p:blipFill>
        <p:spPr>
          <a:prstGeom prst="rect">
            <a:avLst/>
          </a:prstGeom>
        </p:spPr>
      </p:pic>
      <p:sp>
        <p:nvSpPr>
          <p:cNvPr id="4" name="Text Placeholder 3">
            <a:extLst>
              <a:ext uri="{FF2B5EF4-FFF2-40B4-BE49-F238E27FC236}">
                <a16:creationId xmlns:a16="http://schemas.microsoft.com/office/drawing/2014/main" id="{12119338-7094-D0C2-0F99-655A4BF86A4B}"/>
              </a:ext>
            </a:extLst>
          </p:cNvPr>
          <p:cNvSpPr>
            <a:spLocks noGrp="1"/>
          </p:cNvSpPr>
          <p:nvPr>
            <p:ph type="body" sz="half" idx="2"/>
          </p:nvPr>
        </p:nvSpPr>
        <p:spPr/>
        <p:txBody>
          <a:bodyPr/>
          <a:lstStyle/>
          <a:p>
            <a:r>
              <a:rPr lang="vi-VN"/>
              <a:t>Căn bậc hai</a:t>
            </a:r>
          </a:p>
        </p:txBody>
      </p:sp>
      <p:sp>
        <p:nvSpPr>
          <p:cNvPr id="7" name="Slide Number Placeholder 6">
            <a:extLst>
              <a:ext uri="{FF2B5EF4-FFF2-40B4-BE49-F238E27FC236}">
                <a16:creationId xmlns:a16="http://schemas.microsoft.com/office/drawing/2014/main" id="{33BF7805-4BEB-DD10-702B-0177F11809B3}"/>
              </a:ext>
            </a:extLst>
          </p:cNvPr>
          <p:cNvSpPr>
            <a:spLocks noGrp="1"/>
          </p:cNvSpPr>
          <p:nvPr>
            <p:ph type="sldNum" sz="quarter" idx="12"/>
          </p:nvPr>
        </p:nvSpPr>
        <p:spPr/>
        <p:txBody>
          <a:bodyPr/>
          <a:lstStyle/>
          <a:p>
            <a:fld id="{CBF310FD-C090-4C3A-AF23-E809F51E0484}" type="slidenum">
              <a:rPr lang="vi-VN" smtClean="0"/>
              <a:t>26</a:t>
            </a:fld>
            <a:endParaRPr lang="vi-VN"/>
          </a:p>
        </p:txBody>
      </p:sp>
    </p:spTree>
    <p:extLst>
      <p:ext uri="{BB962C8B-B14F-4D97-AF65-F5344CB8AC3E}">
        <p14:creationId xmlns:p14="http://schemas.microsoft.com/office/powerpoint/2010/main" val="166462172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7EB80-A67A-4F31-AB01-8FC054E79FDA}"/>
              </a:ext>
            </a:extLst>
          </p:cNvPr>
          <p:cNvSpPr>
            <a:spLocks noGrp="1"/>
          </p:cNvSpPr>
          <p:nvPr>
            <p:ph type="title"/>
          </p:nvPr>
        </p:nvSpPr>
        <p:spPr/>
        <p:txBody>
          <a:bodyPr/>
          <a:lstStyle/>
          <a:p>
            <a:r>
              <a:rPr lang="vi-VN"/>
              <a:t>IV. Thực nghiệm</a:t>
            </a:r>
            <a:br>
              <a:rPr lang="vi-VN"/>
            </a:br>
            <a:r>
              <a:rPr lang="vi-VN"/>
              <a:t>và đánh giá</a:t>
            </a:r>
          </a:p>
        </p:txBody>
      </p:sp>
      <p:pic>
        <p:nvPicPr>
          <p:cNvPr id="6" name="Picture Placeholder 5">
            <a:extLst>
              <a:ext uri="{FF2B5EF4-FFF2-40B4-BE49-F238E27FC236}">
                <a16:creationId xmlns:a16="http://schemas.microsoft.com/office/drawing/2014/main" id="{60E7A88A-421C-ED9A-F4A5-A25A48BFAD84}"/>
              </a:ext>
            </a:extLst>
          </p:cNvPr>
          <p:cNvPicPr>
            <a:picLocks noGrp="1" noChangeAspect="1"/>
          </p:cNvPicPr>
          <p:nvPr>
            <p:ph type="pic" idx="1"/>
          </p:nvPr>
        </p:nvPicPr>
        <p:blipFill>
          <a:blip r:embed="rId2"/>
          <a:srcRect t="438" b="438"/>
          <a:stretch>
            <a:fillRect/>
          </a:stretch>
        </p:blipFill>
        <p:spPr>
          <a:xfrm>
            <a:off x="4772025" y="782596"/>
            <a:ext cx="6583363" cy="5283284"/>
          </a:xfrm>
          <a:prstGeom prst="rect">
            <a:avLst/>
          </a:prstGeom>
        </p:spPr>
      </p:pic>
      <p:sp>
        <p:nvSpPr>
          <p:cNvPr id="4" name="Text Placeholder 3">
            <a:extLst>
              <a:ext uri="{FF2B5EF4-FFF2-40B4-BE49-F238E27FC236}">
                <a16:creationId xmlns:a16="http://schemas.microsoft.com/office/drawing/2014/main" id="{0FAB76B6-B1C3-4EDB-4139-AF931A89D094}"/>
              </a:ext>
            </a:extLst>
          </p:cNvPr>
          <p:cNvSpPr>
            <a:spLocks noGrp="1"/>
          </p:cNvSpPr>
          <p:nvPr>
            <p:ph type="body" sz="half" idx="2"/>
          </p:nvPr>
        </p:nvSpPr>
        <p:spPr/>
        <p:txBody>
          <a:bodyPr>
            <a:normAutofit/>
          </a:bodyPr>
          <a:lstStyle/>
          <a:p>
            <a:r>
              <a:rPr lang="vi-VN" sz="2400"/>
              <a:t>Giảm chiều dữ liệu với </a:t>
            </a:r>
            <a:r>
              <a:rPr lang="vi-VN" sz="2400" b="1">
                <a:solidFill>
                  <a:schemeClr val="accent4">
                    <a:lumMod val="75000"/>
                  </a:schemeClr>
                </a:solidFill>
              </a:rPr>
              <a:t>SVD</a:t>
            </a:r>
          </a:p>
        </p:txBody>
      </p:sp>
      <p:sp>
        <p:nvSpPr>
          <p:cNvPr id="7" name="Slide Number Placeholder 6">
            <a:extLst>
              <a:ext uri="{FF2B5EF4-FFF2-40B4-BE49-F238E27FC236}">
                <a16:creationId xmlns:a16="http://schemas.microsoft.com/office/drawing/2014/main" id="{C57E0C06-5DE8-8B0A-C6FF-E06B3CBC6350}"/>
              </a:ext>
            </a:extLst>
          </p:cNvPr>
          <p:cNvSpPr>
            <a:spLocks noGrp="1"/>
          </p:cNvSpPr>
          <p:nvPr>
            <p:ph type="sldNum" sz="quarter" idx="12"/>
          </p:nvPr>
        </p:nvSpPr>
        <p:spPr/>
        <p:txBody>
          <a:bodyPr/>
          <a:lstStyle/>
          <a:p>
            <a:fld id="{CBF310FD-C090-4C3A-AF23-E809F51E0484}" type="slidenum">
              <a:rPr lang="vi-VN" smtClean="0"/>
              <a:t>27</a:t>
            </a:fld>
            <a:endParaRPr lang="vi-VN"/>
          </a:p>
        </p:txBody>
      </p:sp>
    </p:spTree>
    <p:extLst>
      <p:ext uri="{BB962C8B-B14F-4D97-AF65-F5344CB8AC3E}">
        <p14:creationId xmlns:p14="http://schemas.microsoft.com/office/powerpoint/2010/main" val="1569643556"/>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DCD67-FEA7-651F-E129-304642034866}"/>
              </a:ext>
            </a:extLst>
          </p:cNvPr>
          <p:cNvSpPr>
            <a:spLocks noGrp="1"/>
          </p:cNvSpPr>
          <p:nvPr>
            <p:ph type="title"/>
          </p:nvPr>
        </p:nvSpPr>
        <p:spPr/>
        <p:txBody>
          <a:bodyPr/>
          <a:lstStyle/>
          <a:p>
            <a:r>
              <a:rPr lang="vi-VN"/>
              <a:t>IV. Thực nghiệm và đánh giá</a:t>
            </a:r>
          </a:p>
        </p:txBody>
      </p:sp>
      <mc:AlternateContent xmlns:mc="http://schemas.openxmlformats.org/markup-compatibility/2006">
        <mc:Choice xmlns:a14="http://schemas.microsoft.com/office/drawing/2010/main" Requires="a14">
          <p:graphicFrame>
            <p:nvGraphicFramePr>
              <p:cNvPr id="6" name="Content Placeholder 5">
                <a:extLst>
                  <a:ext uri="{FF2B5EF4-FFF2-40B4-BE49-F238E27FC236}">
                    <a16:creationId xmlns:a16="http://schemas.microsoft.com/office/drawing/2014/main" id="{EF462D18-629E-EACC-7E33-49C0B5EA3516}"/>
                  </a:ext>
                </a:extLst>
              </p:cNvPr>
              <p:cNvGraphicFramePr>
                <a:graphicFrameLocks noGrp="1"/>
              </p:cNvGraphicFramePr>
              <p:nvPr>
                <p:ph idx="1"/>
                <p:extLst>
                  <p:ext uri="{D42A27DB-BD31-4B8C-83A1-F6EECF244321}">
                    <p14:modId xmlns:p14="http://schemas.microsoft.com/office/powerpoint/2010/main" val="1647597232"/>
                  </p:ext>
                </p:extLst>
              </p:nvPr>
            </p:nvGraphicFramePr>
            <p:xfrm>
              <a:off x="3073167" y="1945640"/>
              <a:ext cx="6045666" cy="2966720"/>
            </p:xfrm>
            <a:graphic>
              <a:graphicData uri="http://schemas.openxmlformats.org/drawingml/2006/table">
                <a:tbl>
                  <a:tblPr firstRow="1" bandRow="1">
                    <a:tableStyleId>{5C22544A-7EE6-4342-B048-85BDC9FD1C3A}</a:tableStyleId>
                  </a:tblPr>
                  <a:tblGrid>
                    <a:gridCol w="3022833">
                      <a:extLst>
                        <a:ext uri="{9D8B030D-6E8A-4147-A177-3AD203B41FA5}">
                          <a16:colId xmlns:a16="http://schemas.microsoft.com/office/drawing/2014/main" val="2230178476"/>
                        </a:ext>
                      </a:extLst>
                    </a:gridCol>
                    <a:gridCol w="3022833">
                      <a:extLst>
                        <a:ext uri="{9D8B030D-6E8A-4147-A177-3AD203B41FA5}">
                          <a16:colId xmlns:a16="http://schemas.microsoft.com/office/drawing/2014/main" val="1781316454"/>
                        </a:ext>
                      </a:extLst>
                    </a:gridCol>
                  </a:tblGrid>
                  <a:tr h="370840">
                    <a:tc>
                      <a:txBody>
                        <a:bodyPr/>
                        <a:lstStyle/>
                        <a:p>
                          <a:r>
                            <a:rPr lang="vi-VN"/>
                            <a:t>Thuật toán</a:t>
                          </a:r>
                        </a:p>
                      </a:txBody>
                      <a:tcPr/>
                    </a:tc>
                    <a:tc>
                      <a:txBody>
                        <a:bodyPr/>
                        <a:lstStyle/>
                        <a:p>
                          <a:pPr algn="ctr"/>
                          <a:r>
                            <a:rPr lang="vi-VN"/>
                            <a:t>Speedup Tối đa</a:t>
                          </a:r>
                        </a:p>
                      </a:txBody>
                      <a:tcPr/>
                    </a:tc>
                    <a:extLst>
                      <a:ext uri="{0D108BD9-81ED-4DB2-BD59-A6C34878D82A}">
                        <a16:rowId xmlns:a16="http://schemas.microsoft.com/office/drawing/2014/main" val="683937363"/>
                      </a:ext>
                    </a:extLst>
                  </a:tr>
                  <a:tr h="370840">
                    <a:tc>
                      <a:txBody>
                        <a:bodyPr/>
                        <a:lstStyle/>
                        <a:p>
                          <a:r>
                            <a:rPr lang="vi-VN"/>
                            <a:t>Nhân ma trận (Cannon)</a:t>
                          </a:r>
                        </a:p>
                      </a:txBody>
                      <a:tcPr/>
                    </a:tc>
                    <a:tc>
                      <a:txBody>
                        <a:bodyPr/>
                        <a:lstStyle/>
                        <a:p>
                          <a:pPr algn="ctr"/>
                          <a14:m>
                            <m:oMath xmlns:m="http://schemas.openxmlformats.org/officeDocument/2006/math">
                              <m:r>
                                <a:rPr lang="vi-VN" i="1" smtClean="0">
                                  <a:latin typeface="Cambria Math" panose="02040503050406030204" pitchFamily="18" charset="0"/>
                                  <a:ea typeface="Cambria Math" panose="02040503050406030204" pitchFamily="18" charset="0"/>
                                </a:rPr>
                                <m:t>≈</m:t>
                              </m:r>
                            </m:oMath>
                          </a14:m>
                          <a:r>
                            <a:rPr lang="vi-VN"/>
                            <a:t> 11.3</a:t>
                          </a:r>
                        </a:p>
                      </a:txBody>
                      <a:tcPr/>
                    </a:tc>
                    <a:extLst>
                      <a:ext uri="{0D108BD9-81ED-4DB2-BD59-A6C34878D82A}">
                        <a16:rowId xmlns:a16="http://schemas.microsoft.com/office/drawing/2014/main" val="1799679062"/>
                      </a:ext>
                    </a:extLst>
                  </a:tr>
                  <a:tr h="370840">
                    <a:tc>
                      <a:txBody>
                        <a:bodyPr/>
                        <a:lstStyle/>
                        <a:p>
                          <a:r>
                            <a:rPr lang="vi-VN"/>
                            <a:t>Nhân ma trận (DNS)</a:t>
                          </a:r>
                        </a:p>
                      </a:txBody>
                      <a:tcPr/>
                    </a:tc>
                    <a:tc>
                      <a:txBody>
                        <a:bodyPr/>
                        <a:lstStyle/>
                        <a:p>
                          <a:pPr algn="ctr"/>
                          <a14:m>
                            <m:oMath xmlns:m="http://schemas.openxmlformats.org/officeDocument/2006/math">
                              <m:r>
                                <a:rPr lang="vi-VN" i="1" smtClean="0">
                                  <a:latin typeface="Cambria Math" panose="02040503050406030204" pitchFamily="18" charset="0"/>
                                  <a:ea typeface="Cambria Math" panose="02040503050406030204" pitchFamily="18" charset="0"/>
                                </a:rPr>
                                <m:t>≈</m:t>
                              </m:r>
                            </m:oMath>
                          </a14:m>
                          <a:r>
                            <a:rPr lang="vi-VN"/>
                            <a:t> 8.5</a:t>
                          </a:r>
                        </a:p>
                      </a:txBody>
                      <a:tcPr/>
                    </a:tc>
                    <a:extLst>
                      <a:ext uri="{0D108BD9-81ED-4DB2-BD59-A6C34878D82A}">
                        <a16:rowId xmlns:a16="http://schemas.microsoft.com/office/drawing/2014/main" val="1455181923"/>
                      </a:ext>
                    </a:extLst>
                  </a:tr>
                  <a:tr h="370840">
                    <a:tc>
                      <a:txBody>
                        <a:bodyPr/>
                        <a:lstStyle/>
                        <a:p>
                          <a:r>
                            <a:rPr lang="vi-VN"/>
                            <a:t>Jacobi (Trị riêng)</a:t>
                          </a:r>
                        </a:p>
                      </a:txBody>
                      <a:tcPr/>
                    </a:tc>
                    <a:tc>
                      <a:txBody>
                        <a:bodyPr/>
                        <a:lstStyle/>
                        <a:p>
                          <a:pPr algn="ctr"/>
                          <a14:m>
                            <m:oMath xmlns:m="http://schemas.openxmlformats.org/officeDocument/2006/math">
                              <m:r>
                                <a:rPr lang="vi-VN" i="1" smtClean="0">
                                  <a:latin typeface="Cambria Math" panose="02040503050406030204" pitchFamily="18" charset="0"/>
                                  <a:ea typeface="Cambria Math" panose="02040503050406030204" pitchFamily="18" charset="0"/>
                                </a:rPr>
                                <m:t>≈</m:t>
                              </m:r>
                            </m:oMath>
                          </a14:m>
                          <a:r>
                            <a:rPr lang="vi-VN"/>
                            <a:t> 4.4</a:t>
                          </a:r>
                        </a:p>
                      </a:txBody>
                      <a:tcPr/>
                    </a:tc>
                    <a:extLst>
                      <a:ext uri="{0D108BD9-81ED-4DB2-BD59-A6C34878D82A}">
                        <a16:rowId xmlns:a16="http://schemas.microsoft.com/office/drawing/2014/main" val="554952595"/>
                      </a:ext>
                    </a:extLst>
                  </a:tr>
                  <a:tr h="370840">
                    <a:tc>
                      <a:txBody>
                        <a:bodyPr/>
                        <a:lstStyle/>
                        <a:p>
                          <a:r>
                            <a:rPr lang="vi-VN"/>
                            <a:t>Giảm chiều với </a:t>
                          </a:r>
                          <a:r>
                            <a:rPr lang="vi-VN" b="1">
                              <a:solidFill>
                                <a:schemeClr val="accent4">
                                  <a:lumMod val="75000"/>
                                </a:schemeClr>
                              </a:solidFill>
                            </a:rPr>
                            <a:t>SVD</a:t>
                          </a:r>
                        </a:p>
                      </a:txBody>
                      <a:tcPr/>
                    </a:tc>
                    <a:tc>
                      <a:txBody>
                        <a:bodyPr/>
                        <a:lstStyle/>
                        <a:p>
                          <a:pPr algn="ctr"/>
                          <a14:m>
                            <m:oMath xmlns:m="http://schemas.openxmlformats.org/officeDocument/2006/math">
                              <m:r>
                                <a:rPr lang="vi-VN" i="1" smtClean="0">
                                  <a:latin typeface="Cambria Math" panose="02040503050406030204" pitchFamily="18" charset="0"/>
                                  <a:ea typeface="Cambria Math" panose="02040503050406030204" pitchFamily="18" charset="0"/>
                                </a:rPr>
                                <m:t>≈</m:t>
                              </m:r>
                            </m:oMath>
                          </a14:m>
                          <a:r>
                            <a:rPr lang="vi-VN"/>
                            <a:t> 4.6</a:t>
                          </a:r>
                        </a:p>
                      </a:txBody>
                      <a:tcPr/>
                    </a:tc>
                    <a:extLst>
                      <a:ext uri="{0D108BD9-81ED-4DB2-BD59-A6C34878D82A}">
                        <a16:rowId xmlns:a16="http://schemas.microsoft.com/office/drawing/2014/main" val="1485212499"/>
                      </a:ext>
                    </a:extLst>
                  </a:tr>
                  <a:tr h="370840">
                    <a:tc>
                      <a:txBody>
                        <a:bodyPr/>
                        <a:lstStyle/>
                        <a:p>
                          <a:r>
                            <a:rPr lang="vi-VN"/>
                            <a:t>Sắp xếp</a:t>
                          </a:r>
                        </a:p>
                      </a:txBody>
                      <a:tcPr/>
                    </a:tc>
                    <a:tc>
                      <a:txBody>
                        <a:bodyPr/>
                        <a:lstStyle/>
                        <a:p>
                          <a:pPr algn="ctr"/>
                          <a14:m>
                            <m:oMath xmlns:m="http://schemas.openxmlformats.org/officeDocument/2006/math">
                              <m:r>
                                <a:rPr lang="vi-VN" i="1" smtClean="0">
                                  <a:latin typeface="Cambria Math" panose="02040503050406030204" pitchFamily="18" charset="0"/>
                                  <a:ea typeface="Cambria Math" panose="02040503050406030204" pitchFamily="18" charset="0"/>
                                </a:rPr>
                                <m:t>≈</m:t>
                              </m:r>
                            </m:oMath>
                          </a14:m>
                          <a:r>
                            <a:rPr lang="vi-VN"/>
                            <a:t> 4.4</a:t>
                          </a:r>
                        </a:p>
                      </a:txBody>
                      <a:tcPr/>
                    </a:tc>
                    <a:extLst>
                      <a:ext uri="{0D108BD9-81ED-4DB2-BD59-A6C34878D82A}">
                        <a16:rowId xmlns:a16="http://schemas.microsoft.com/office/drawing/2014/main" val="1038540298"/>
                      </a:ext>
                    </a:extLst>
                  </a:tr>
                  <a:tr h="370840">
                    <a:tc>
                      <a:txBody>
                        <a:bodyPr/>
                        <a:lstStyle/>
                        <a:p>
                          <a:r>
                            <a:rPr lang="vi-VN"/>
                            <a:t>Chuyển vị</a:t>
                          </a:r>
                        </a:p>
                      </a:txBody>
                      <a:tcPr/>
                    </a:tc>
                    <a:tc>
                      <a:txBody>
                        <a:bodyPr/>
                        <a:lstStyle/>
                        <a:p>
                          <a:pPr algn="ctr"/>
                          <a14:m>
                            <m:oMath xmlns:m="http://schemas.openxmlformats.org/officeDocument/2006/math">
                              <m:r>
                                <a:rPr lang="vi-VN" i="1" smtClean="0">
                                  <a:latin typeface="Cambria Math" panose="02040503050406030204" pitchFamily="18" charset="0"/>
                                  <a:ea typeface="Cambria Math" panose="02040503050406030204" pitchFamily="18" charset="0"/>
                                </a:rPr>
                                <m:t>≈</m:t>
                              </m:r>
                            </m:oMath>
                          </a14:m>
                          <a:r>
                            <a:rPr lang="vi-VN"/>
                            <a:t> 5.0</a:t>
                          </a:r>
                        </a:p>
                      </a:txBody>
                      <a:tcPr/>
                    </a:tc>
                    <a:extLst>
                      <a:ext uri="{0D108BD9-81ED-4DB2-BD59-A6C34878D82A}">
                        <a16:rowId xmlns:a16="http://schemas.microsoft.com/office/drawing/2014/main" val="1280934547"/>
                      </a:ext>
                    </a:extLst>
                  </a:tr>
                  <a:tr h="370840">
                    <a:tc>
                      <a:txBody>
                        <a:bodyPr/>
                        <a:lstStyle/>
                        <a:p>
                          <a:r>
                            <a:rPr lang="vi-VN"/>
                            <a:t>Căn bậc hai</a:t>
                          </a:r>
                        </a:p>
                      </a:txBody>
                      <a:tcPr/>
                    </a:tc>
                    <a:tc>
                      <a:txBody>
                        <a:bodyPr/>
                        <a:lstStyle/>
                        <a:p>
                          <a:pPr algn="ctr"/>
                          <a14:m>
                            <m:oMath xmlns:m="http://schemas.openxmlformats.org/officeDocument/2006/math">
                              <m:r>
                                <a:rPr lang="vi-VN" i="1" smtClean="0">
                                  <a:latin typeface="Cambria Math" panose="02040503050406030204" pitchFamily="18" charset="0"/>
                                  <a:ea typeface="Cambria Math" panose="02040503050406030204" pitchFamily="18" charset="0"/>
                                </a:rPr>
                                <m:t>≈</m:t>
                              </m:r>
                            </m:oMath>
                          </a14:m>
                          <a:r>
                            <a:rPr lang="vi-VN"/>
                            <a:t> 3.8</a:t>
                          </a:r>
                        </a:p>
                      </a:txBody>
                      <a:tcPr/>
                    </a:tc>
                    <a:extLst>
                      <a:ext uri="{0D108BD9-81ED-4DB2-BD59-A6C34878D82A}">
                        <a16:rowId xmlns:a16="http://schemas.microsoft.com/office/drawing/2014/main" val="3640122517"/>
                      </a:ext>
                    </a:extLst>
                  </a:tr>
                </a:tbl>
              </a:graphicData>
            </a:graphic>
          </p:graphicFrame>
        </mc:Choice>
        <mc:Fallback>
          <p:graphicFrame>
            <p:nvGraphicFramePr>
              <p:cNvPr id="6" name="Content Placeholder 5">
                <a:extLst>
                  <a:ext uri="{FF2B5EF4-FFF2-40B4-BE49-F238E27FC236}">
                    <a16:creationId xmlns:a16="http://schemas.microsoft.com/office/drawing/2014/main" id="{EF462D18-629E-EACC-7E33-49C0B5EA3516}"/>
                  </a:ext>
                </a:extLst>
              </p:cNvPr>
              <p:cNvGraphicFramePr>
                <a:graphicFrameLocks noGrp="1"/>
              </p:cNvGraphicFramePr>
              <p:nvPr>
                <p:ph idx="1"/>
                <p:extLst>
                  <p:ext uri="{D42A27DB-BD31-4B8C-83A1-F6EECF244321}">
                    <p14:modId xmlns:p14="http://schemas.microsoft.com/office/powerpoint/2010/main" val="1647597232"/>
                  </p:ext>
                </p:extLst>
              </p:nvPr>
            </p:nvGraphicFramePr>
            <p:xfrm>
              <a:off x="3073167" y="1945640"/>
              <a:ext cx="6045666" cy="2966720"/>
            </p:xfrm>
            <a:graphic>
              <a:graphicData uri="http://schemas.openxmlformats.org/drawingml/2006/table">
                <a:tbl>
                  <a:tblPr firstRow="1" bandRow="1">
                    <a:tableStyleId>{5C22544A-7EE6-4342-B048-85BDC9FD1C3A}</a:tableStyleId>
                  </a:tblPr>
                  <a:tblGrid>
                    <a:gridCol w="3022833">
                      <a:extLst>
                        <a:ext uri="{9D8B030D-6E8A-4147-A177-3AD203B41FA5}">
                          <a16:colId xmlns:a16="http://schemas.microsoft.com/office/drawing/2014/main" val="2230178476"/>
                        </a:ext>
                      </a:extLst>
                    </a:gridCol>
                    <a:gridCol w="3022833">
                      <a:extLst>
                        <a:ext uri="{9D8B030D-6E8A-4147-A177-3AD203B41FA5}">
                          <a16:colId xmlns:a16="http://schemas.microsoft.com/office/drawing/2014/main" val="1781316454"/>
                        </a:ext>
                      </a:extLst>
                    </a:gridCol>
                  </a:tblGrid>
                  <a:tr h="370840">
                    <a:tc>
                      <a:txBody>
                        <a:bodyPr/>
                        <a:lstStyle/>
                        <a:p>
                          <a:r>
                            <a:rPr lang="vi-VN"/>
                            <a:t>Thuật toán</a:t>
                          </a:r>
                        </a:p>
                      </a:txBody>
                      <a:tcPr/>
                    </a:tc>
                    <a:tc>
                      <a:txBody>
                        <a:bodyPr/>
                        <a:lstStyle/>
                        <a:p>
                          <a:pPr algn="ctr"/>
                          <a:r>
                            <a:rPr lang="vi-VN"/>
                            <a:t>Speedup Tối đa</a:t>
                          </a:r>
                        </a:p>
                      </a:txBody>
                      <a:tcPr/>
                    </a:tc>
                    <a:extLst>
                      <a:ext uri="{0D108BD9-81ED-4DB2-BD59-A6C34878D82A}">
                        <a16:rowId xmlns:a16="http://schemas.microsoft.com/office/drawing/2014/main" val="683937363"/>
                      </a:ext>
                    </a:extLst>
                  </a:tr>
                  <a:tr h="370840">
                    <a:tc>
                      <a:txBody>
                        <a:bodyPr/>
                        <a:lstStyle/>
                        <a:p>
                          <a:r>
                            <a:rPr lang="vi-VN"/>
                            <a:t>Nhân ma trận (Cannon)</a:t>
                          </a:r>
                        </a:p>
                      </a:txBody>
                      <a:tcPr/>
                    </a:tc>
                    <a:tc>
                      <a:txBody>
                        <a:bodyPr/>
                        <a:lstStyle/>
                        <a:p>
                          <a:endParaRPr lang="vi-VN"/>
                        </a:p>
                      </a:txBody>
                      <a:tcPr>
                        <a:blipFill>
                          <a:blip r:embed="rId2"/>
                          <a:stretch>
                            <a:fillRect l="-100202" t="-108197" r="-1008" b="-622951"/>
                          </a:stretch>
                        </a:blipFill>
                      </a:tcPr>
                    </a:tc>
                    <a:extLst>
                      <a:ext uri="{0D108BD9-81ED-4DB2-BD59-A6C34878D82A}">
                        <a16:rowId xmlns:a16="http://schemas.microsoft.com/office/drawing/2014/main" val="1799679062"/>
                      </a:ext>
                    </a:extLst>
                  </a:tr>
                  <a:tr h="370840">
                    <a:tc>
                      <a:txBody>
                        <a:bodyPr/>
                        <a:lstStyle/>
                        <a:p>
                          <a:r>
                            <a:rPr lang="vi-VN"/>
                            <a:t>Nhân ma trận (DNS)</a:t>
                          </a:r>
                        </a:p>
                      </a:txBody>
                      <a:tcPr/>
                    </a:tc>
                    <a:tc>
                      <a:txBody>
                        <a:bodyPr/>
                        <a:lstStyle/>
                        <a:p>
                          <a:endParaRPr lang="vi-VN"/>
                        </a:p>
                      </a:txBody>
                      <a:tcPr>
                        <a:blipFill>
                          <a:blip r:embed="rId2"/>
                          <a:stretch>
                            <a:fillRect l="-100202" t="-208197" r="-1008" b="-522951"/>
                          </a:stretch>
                        </a:blipFill>
                      </a:tcPr>
                    </a:tc>
                    <a:extLst>
                      <a:ext uri="{0D108BD9-81ED-4DB2-BD59-A6C34878D82A}">
                        <a16:rowId xmlns:a16="http://schemas.microsoft.com/office/drawing/2014/main" val="1455181923"/>
                      </a:ext>
                    </a:extLst>
                  </a:tr>
                  <a:tr h="370840">
                    <a:tc>
                      <a:txBody>
                        <a:bodyPr/>
                        <a:lstStyle/>
                        <a:p>
                          <a:r>
                            <a:rPr lang="vi-VN"/>
                            <a:t>Jacobi (Trị riêng)</a:t>
                          </a:r>
                        </a:p>
                      </a:txBody>
                      <a:tcPr/>
                    </a:tc>
                    <a:tc>
                      <a:txBody>
                        <a:bodyPr/>
                        <a:lstStyle/>
                        <a:p>
                          <a:endParaRPr lang="vi-VN"/>
                        </a:p>
                      </a:txBody>
                      <a:tcPr>
                        <a:blipFill>
                          <a:blip r:embed="rId2"/>
                          <a:stretch>
                            <a:fillRect l="-100202" t="-308197" r="-1008" b="-422951"/>
                          </a:stretch>
                        </a:blipFill>
                      </a:tcPr>
                    </a:tc>
                    <a:extLst>
                      <a:ext uri="{0D108BD9-81ED-4DB2-BD59-A6C34878D82A}">
                        <a16:rowId xmlns:a16="http://schemas.microsoft.com/office/drawing/2014/main" val="554952595"/>
                      </a:ext>
                    </a:extLst>
                  </a:tr>
                  <a:tr h="370840">
                    <a:tc>
                      <a:txBody>
                        <a:bodyPr/>
                        <a:lstStyle/>
                        <a:p>
                          <a:r>
                            <a:rPr lang="vi-VN"/>
                            <a:t>Giảm chiều với </a:t>
                          </a:r>
                          <a:r>
                            <a:rPr lang="vi-VN" b="1">
                              <a:solidFill>
                                <a:schemeClr val="accent4">
                                  <a:lumMod val="75000"/>
                                </a:schemeClr>
                              </a:solidFill>
                            </a:rPr>
                            <a:t>SVD</a:t>
                          </a:r>
                        </a:p>
                      </a:txBody>
                      <a:tcPr/>
                    </a:tc>
                    <a:tc>
                      <a:txBody>
                        <a:bodyPr/>
                        <a:lstStyle/>
                        <a:p>
                          <a:endParaRPr lang="vi-VN"/>
                        </a:p>
                      </a:txBody>
                      <a:tcPr>
                        <a:blipFill>
                          <a:blip r:embed="rId2"/>
                          <a:stretch>
                            <a:fillRect l="-100202" t="-415000" r="-1008" b="-330000"/>
                          </a:stretch>
                        </a:blipFill>
                      </a:tcPr>
                    </a:tc>
                    <a:extLst>
                      <a:ext uri="{0D108BD9-81ED-4DB2-BD59-A6C34878D82A}">
                        <a16:rowId xmlns:a16="http://schemas.microsoft.com/office/drawing/2014/main" val="1485212499"/>
                      </a:ext>
                    </a:extLst>
                  </a:tr>
                  <a:tr h="370840">
                    <a:tc>
                      <a:txBody>
                        <a:bodyPr/>
                        <a:lstStyle/>
                        <a:p>
                          <a:r>
                            <a:rPr lang="vi-VN"/>
                            <a:t>Sắp xếp</a:t>
                          </a:r>
                        </a:p>
                      </a:txBody>
                      <a:tcPr/>
                    </a:tc>
                    <a:tc>
                      <a:txBody>
                        <a:bodyPr/>
                        <a:lstStyle/>
                        <a:p>
                          <a:endParaRPr lang="vi-VN"/>
                        </a:p>
                      </a:txBody>
                      <a:tcPr>
                        <a:blipFill>
                          <a:blip r:embed="rId2"/>
                          <a:stretch>
                            <a:fillRect l="-100202" t="-506557" r="-1008" b="-224590"/>
                          </a:stretch>
                        </a:blipFill>
                      </a:tcPr>
                    </a:tc>
                    <a:extLst>
                      <a:ext uri="{0D108BD9-81ED-4DB2-BD59-A6C34878D82A}">
                        <a16:rowId xmlns:a16="http://schemas.microsoft.com/office/drawing/2014/main" val="1038540298"/>
                      </a:ext>
                    </a:extLst>
                  </a:tr>
                  <a:tr h="370840">
                    <a:tc>
                      <a:txBody>
                        <a:bodyPr/>
                        <a:lstStyle/>
                        <a:p>
                          <a:r>
                            <a:rPr lang="vi-VN"/>
                            <a:t>Chuyển vị</a:t>
                          </a:r>
                        </a:p>
                      </a:txBody>
                      <a:tcPr/>
                    </a:tc>
                    <a:tc>
                      <a:txBody>
                        <a:bodyPr/>
                        <a:lstStyle/>
                        <a:p>
                          <a:endParaRPr lang="vi-VN"/>
                        </a:p>
                      </a:txBody>
                      <a:tcPr>
                        <a:blipFill>
                          <a:blip r:embed="rId2"/>
                          <a:stretch>
                            <a:fillRect l="-100202" t="-606557" r="-1008" b="-124590"/>
                          </a:stretch>
                        </a:blipFill>
                      </a:tcPr>
                    </a:tc>
                    <a:extLst>
                      <a:ext uri="{0D108BD9-81ED-4DB2-BD59-A6C34878D82A}">
                        <a16:rowId xmlns:a16="http://schemas.microsoft.com/office/drawing/2014/main" val="1280934547"/>
                      </a:ext>
                    </a:extLst>
                  </a:tr>
                  <a:tr h="370840">
                    <a:tc>
                      <a:txBody>
                        <a:bodyPr/>
                        <a:lstStyle/>
                        <a:p>
                          <a:r>
                            <a:rPr lang="vi-VN"/>
                            <a:t>Căn bậc hai</a:t>
                          </a:r>
                        </a:p>
                      </a:txBody>
                      <a:tcPr/>
                    </a:tc>
                    <a:tc>
                      <a:txBody>
                        <a:bodyPr/>
                        <a:lstStyle/>
                        <a:p>
                          <a:endParaRPr lang="vi-VN"/>
                        </a:p>
                      </a:txBody>
                      <a:tcPr>
                        <a:blipFill>
                          <a:blip r:embed="rId2"/>
                          <a:stretch>
                            <a:fillRect l="-100202" t="-706557" r="-1008" b="-24590"/>
                          </a:stretch>
                        </a:blipFill>
                      </a:tcPr>
                    </a:tc>
                    <a:extLst>
                      <a:ext uri="{0D108BD9-81ED-4DB2-BD59-A6C34878D82A}">
                        <a16:rowId xmlns:a16="http://schemas.microsoft.com/office/drawing/2014/main" val="3640122517"/>
                      </a:ext>
                    </a:extLst>
                  </a:tr>
                </a:tbl>
              </a:graphicData>
            </a:graphic>
          </p:graphicFrame>
        </mc:Fallback>
      </mc:AlternateContent>
      <p:sp>
        <p:nvSpPr>
          <p:cNvPr id="7" name="Slide Number Placeholder 6">
            <a:extLst>
              <a:ext uri="{FF2B5EF4-FFF2-40B4-BE49-F238E27FC236}">
                <a16:creationId xmlns:a16="http://schemas.microsoft.com/office/drawing/2014/main" id="{F8ADE4C7-7A49-F7D7-1DC5-60C073FE483B}"/>
              </a:ext>
            </a:extLst>
          </p:cNvPr>
          <p:cNvSpPr>
            <a:spLocks noGrp="1"/>
          </p:cNvSpPr>
          <p:nvPr>
            <p:ph type="sldNum" sz="quarter" idx="12"/>
          </p:nvPr>
        </p:nvSpPr>
        <p:spPr/>
        <p:txBody>
          <a:bodyPr/>
          <a:lstStyle/>
          <a:p>
            <a:fld id="{CBF310FD-C090-4C3A-AF23-E809F51E0484}" type="slidenum">
              <a:rPr lang="vi-VN" smtClean="0"/>
              <a:t>28</a:t>
            </a:fld>
            <a:endParaRPr lang="vi-VN"/>
          </a:p>
        </p:txBody>
      </p:sp>
    </p:spTree>
    <p:extLst>
      <p:ext uri="{BB962C8B-B14F-4D97-AF65-F5344CB8AC3E}">
        <p14:creationId xmlns:p14="http://schemas.microsoft.com/office/powerpoint/2010/main" val="4172019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DE146-5FCA-F0EF-478D-1924B8C53B7E}"/>
              </a:ext>
            </a:extLst>
          </p:cNvPr>
          <p:cNvSpPr>
            <a:spLocks noGrp="1"/>
          </p:cNvSpPr>
          <p:nvPr>
            <p:ph type="title"/>
          </p:nvPr>
        </p:nvSpPr>
        <p:spPr/>
        <p:txBody>
          <a:bodyPr/>
          <a:lstStyle/>
          <a:p>
            <a:r>
              <a:rPr lang="vi-VN"/>
              <a:t>V. Mở rộng</a:t>
            </a:r>
          </a:p>
        </p:txBody>
      </p:sp>
      <p:pic>
        <p:nvPicPr>
          <p:cNvPr id="7" name="Picture Placeholder 6">
            <a:extLst>
              <a:ext uri="{FF2B5EF4-FFF2-40B4-BE49-F238E27FC236}">
                <a16:creationId xmlns:a16="http://schemas.microsoft.com/office/drawing/2014/main" id="{46967A5D-FA7D-55B3-D887-54CD9D2F0654}"/>
              </a:ext>
            </a:extLst>
          </p:cNvPr>
          <p:cNvPicPr>
            <a:picLocks noGrp="1" noChangeAspect="1"/>
          </p:cNvPicPr>
          <p:nvPr>
            <p:ph type="pic" idx="1"/>
          </p:nvPr>
        </p:nvPicPr>
        <p:blipFill>
          <a:blip r:embed="rId2"/>
          <a:srcRect t="1588" b="1588"/>
          <a:stretch>
            <a:fillRect/>
          </a:stretch>
        </p:blipFill>
        <p:spPr>
          <a:xfrm>
            <a:off x="4772025" y="848498"/>
            <a:ext cx="6583363" cy="5151480"/>
          </a:xfrm>
          <a:prstGeom prst="rect">
            <a:avLst/>
          </a:prstGeom>
        </p:spPr>
      </p:pic>
      <p:sp>
        <p:nvSpPr>
          <p:cNvPr id="3" name="Content Placeholder 2">
            <a:extLst>
              <a:ext uri="{FF2B5EF4-FFF2-40B4-BE49-F238E27FC236}">
                <a16:creationId xmlns:a16="http://schemas.microsoft.com/office/drawing/2014/main" id="{7525DF80-7ADF-FD66-3865-D64EC591B067}"/>
              </a:ext>
            </a:extLst>
          </p:cNvPr>
          <p:cNvSpPr>
            <a:spLocks noGrp="1"/>
          </p:cNvSpPr>
          <p:nvPr>
            <p:ph type="body" sz="half" idx="2"/>
          </p:nvPr>
        </p:nvSpPr>
        <p:spPr/>
        <p:txBody>
          <a:bodyPr/>
          <a:lstStyle/>
          <a:p>
            <a:r>
              <a:rPr lang="vi-VN"/>
              <a:t>So sánh với LAPACK</a:t>
            </a:r>
          </a:p>
          <a:p>
            <a:r>
              <a:rPr lang="vi-VN"/>
              <a:t> </a:t>
            </a:r>
          </a:p>
        </p:txBody>
      </p:sp>
      <p:sp>
        <p:nvSpPr>
          <p:cNvPr id="4" name="Slide Number Placeholder 3">
            <a:extLst>
              <a:ext uri="{FF2B5EF4-FFF2-40B4-BE49-F238E27FC236}">
                <a16:creationId xmlns:a16="http://schemas.microsoft.com/office/drawing/2014/main" id="{205330B8-D0D4-646D-CE53-BFDD0422846E}"/>
              </a:ext>
            </a:extLst>
          </p:cNvPr>
          <p:cNvSpPr>
            <a:spLocks noGrp="1"/>
          </p:cNvSpPr>
          <p:nvPr>
            <p:ph type="sldNum" sz="quarter" idx="12"/>
          </p:nvPr>
        </p:nvSpPr>
        <p:spPr/>
        <p:txBody>
          <a:bodyPr/>
          <a:lstStyle/>
          <a:p>
            <a:fld id="{CBF310FD-C090-4C3A-AF23-E809F51E0484}" type="slidenum">
              <a:rPr lang="vi-VN" smtClean="0"/>
              <a:t>29</a:t>
            </a:fld>
            <a:endParaRPr lang="vi-VN"/>
          </a:p>
        </p:txBody>
      </p:sp>
    </p:spTree>
    <p:extLst>
      <p:ext uri="{BB962C8B-B14F-4D97-AF65-F5344CB8AC3E}">
        <p14:creationId xmlns:p14="http://schemas.microsoft.com/office/powerpoint/2010/main" val="798730026"/>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4B68C-2599-F65F-27FE-8B50611F9CBB}"/>
              </a:ext>
            </a:extLst>
          </p:cNvPr>
          <p:cNvSpPr>
            <a:spLocks noGrp="1"/>
          </p:cNvSpPr>
          <p:nvPr>
            <p:ph type="title"/>
          </p:nvPr>
        </p:nvSpPr>
        <p:spPr/>
        <p:txBody>
          <a:bodyPr/>
          <a:lstStyle/>
          <a:p>
            <a:r>
              <a:rPr lang="vi-VN"/>
              <a:t>V. Mở rộng</a:t>
            </a:r>
          </a:p>
        </p:txBody>
      </p:sp>
      <p:pic>
        <p:nvPicPr>
          <p:cNvPr id="7" name="Picture Placeholder 6">
            <a:extLst>
              <a:ext uri="{FF2B5EF4-FFF2-40B4-BE49-F238E27FC236}">
                <a16:creationId xmlns:a16="http://schemas.microsoft.com/office/drawing/2014/main" id="{FAFDBF6F-6834-8587-CAB8-B1D3EF30EDED}"/>
              </a:ext>
            </a:extLst>
          </p:cNvPr>
          <p:cNvPicPr>
            <a:picLocks noGrp="1" noChangeAspect="1"/>
          </p:cNvPicPr>
          <p:nvPr>
            <p:ph idx="1"/>
          </p:nvPr>
        </p:nvPicPr>
        <p:blipFill>
          <a:blip r:embed="rId3"/>
          <a:stretch/>
        </p:blipFill>
        <p:spPr>
          <a:xfrm>
            <a:off x="5288530" y="987425"/>
            <a:ext cx="5550352" cy="4873625"/>
          </a:xfrm>
          <a:prstGeom prst="rect">
            <a:avLst/>
          </a:prstGeom>
        </p:spPr>
      </p:pic>
      <p:sp>
        <p:nvSpPr>
          <p:cNvPr id="8" name="Text Placeholder 7">
            <a:extLst>
              <a:ext uri="{FF2B5EF4-FFF2-40B4-BE49-F238E27FC236}">
                <a16:creationId xmlns:a16="http://schemas.microsoft.com/office/drawing/2014/main" id="{4788B202-A543-4BB6-3E1F-02D24CC49241}"/>
              </a:ext>
            </a:extLst>
          </p:cNvPr>
          <p:cNvSpPr>
            <a:spLocks noGrp="1"/>
          </p:cNvSpPr>
          <p:nvPr>
            <p:ph type="body" sz="half" idx="2"/>
          </p:nvPr>
        </p:nvSpPr>
        <p:spPr/>
        <p:txBody>
          <a:bodyPr/>
          <a:lstStyle/>
          <a:p>
            <a:pPr>
              <a:lnSpc>
                <a:spcPct val="100000"/>
              </a:lnSpc>
            </a:pPr>
            <a:r>
              <a:rPr lang="vi-VN"/>
              <a:t>Thử nghiệm giảm chiều với bài toán phân loại chữ số viêt tay</a:t>
            </a:r>
          </a:p>
        </p:txBody>
      </p:sp>
      <p:sp>
        <p:nvSpPr>
          <p:cNvPr id="5" name="Slide Number Placeholder 4">
            <a:extLst>
              <a:ext uri="{FF2B5EF4-FFF2-40B4-BE49-F238E27FC236}">
                <a16:creationId xmlns:a16="http://schemas.microsoft.com/office/drawing/2014/main" id="{0C70EC61-9492-06F3-981D-8197EED988DD}"/>
              </a:ext>
            </a:extLst>
          </p:cNvPr>
          <p:cNvSpPr>
            <a:spLocks noGrp="1"/>
          </p:cNvSpPr>
          <p:nvPr>
            <p:ph type="sldNum" sz="quarter" idx="12"/>
          </p:nvPr>
        </p:nvSpPr>
        <p:spPr/>
        <p:txBody>
          <a:bodyPr/>
          <a:lstStyle/>
          <a:p>
            <a:fld id="{CBF310FD-C090-4C3A-AF23-E809F51E0484}" type="slidenum">
              <a:rPr lang="vi-VN" smtClean="0"/>
              <a:t>30</a:t>
            </a:fld>
            <a:endParaRPr lang="vi-VN"/>
          </a:p>
        </p:txBody>
      </p:sp>
    </p:spTree>
    <p:extLst>
      <p:ext uri="{BB962C8B-B14F-4D97-AF65-F5344CB8AC3E}">
        <p14:creationId xmlns:p14="http://schemas.microsoft.com/office/powerpoint/2010/main" val="3365890236"/>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7F498-A2A1-3A02-74FF-4D1B86A5148B}"/>
              </a:ext>
            </a:extLst>
          </p:cNvPr>
          <p:cNvSpPr>
            <a:spLocks noGrp="1"/>
          </p:cNvSpPr>
          <p:nvPr>
            <p:ph type="title"/>
          </p:nvPr>
        </p:nvSpPr>
        <p:spPr/>
        <p:txBody>
          <a:bodyPr/>
          <a:lstStyle/>
          <a:p>
            <a:r>
              <a:rPr lang="vi-VN"/>
              <a:t>V. Mở rộng</a:t>
            </a:r>
          </a:p>
        </p:txBody>
      </p:sp>
      <p:pic>
        <p:nvPicPr>
          <p:cNvPr id="7" name="Content Placeholder 6">
            <a:extLst>
              <a:ext uri="{FF2B5EF4-FFF2-40B4-BE49-F238E27FC236}">
                <a16:creationId xmlns:a16="http://schemas.microsoft.com/office/drawing/2014/main" id="{BDE18295-B311-2A8C-3A4D-970E3933A611}"/>
              </a:ext>
            </a:extLst>
          </p:cNvPr>
          <p:cNvPicPr>
            <a:picLocks noGrp="1" noChangeAspect="1"/>
          </p:cNvPicPr>
          <p:nvPr>
            <p:ph idx="1"/>
          </p:nvPr>
        </p:nvPicPr>
        <p:blipFill>
          <a:blip r:embed="rId2"/>
          <a:stretch>
            <a:fillRect/>
          </a:stretch>
        </p:blipFill>
        <p:spPr>
          <a:xfrm>
            <a:off x="5132404" y="987425"/>
            <a:ext cx="5862605" cy="4873625"/>
          </a:xfrm>
          <a:prstGeom prst="rect">
            <a:avLst/>
          </a:prstGeom>
        </p:spPr>
      </p:pic>
      <p:sp>
        <p:nvSpPr>
          <p:cNvPr id="4" name="Text Placeholder 3">
            <a:extLst>
              <a:ext uri="{FF2B5EF4-FFF2-40B4-BE49-F238E27FC236}">
                <a16:creationId xmlns:a16="http://schemas.microsoft.com/office/drawing/2014/main" id="{9A08FDF8-CB46-1FF3-9C55-B27CAB914DE1}"/>
              </a:ext>
            </a:extLst>
          </p:cNvPr>
          <p:cNvSpPr>
            <a:spLocks noGrp="1"/>
          </p:cNvSpPr>
          <p:nvPr>
            <p:ph type="body" sz="half" idx="2"/>
          </p:nvPr>
        </p:nvSpPr>
        <p:spPr/>
        <p:txBody>
          <a:bodyPr/>
          <a:lstStyle/>
          <a:p>
            <a:pPr>
              <a:lnSpc>
                <a:spcPct val="100000"/>
              </a:lnSpc>
            </a:pPr>
            <a:r>
              <a:rPr lang="vi-VN"/>
              <a:t>Thử nghiệm giảm chiều với bài toán phân loại chữ số viêt tay</a:t>
            </a:r>
          </a:p>
        </p:txBody>
      </p:sp>
      <p:sp>
        <p:nvSpPr>
          <p:cNvPr id="5" name="Slide Number Placeholder 4">
            <a:extLst>
              <a:ext uri="{FF2B5EF4-FFF2-40B4-BE49-F238E27FC236}">
                <a16:creationId xmlns:a16="http://schemas.microsoft.com/office/drawing/2014/main" id="{B19DC2BC-B5DB-544A-DEEE-EEDA58B6BF51}"/>
              </a:ext>
            </a:extLst>
          </p:cNvPr>
          <p:cNvSpPr>
            <a:spLocks noGrp="1"/>
          </p:cNvSpPr>
          <p:nvPr>
            <p:ph type="sldNum" sz="quarter" idx="12"/>
          </p:nvPr>
        </p:nvSpPr>
        <p:spPr/>
        <p:txBody>
          <a:bodyPr/>
          <a:lstStyle/>
          <a:p>
            <a:fld id="{CBF310FD-C090-4C3A-AF23-E809F51E0484}" type="slidenum">
              <a:rPr lang="vi-VN" smtClean="0"/>
              <a:t>31</a:t>
            </a:fld>
            <a:endParaRPr lang="vi-VN"/>
          </a:p>
        </p:txBody>
      </p:sp>
    </p:spTree>
    <p:extLst>
      <p:ext uri="{BB962C8B-B14F-4D97-AF65-F5344CB8AC3E}">
        <p14:creationId xmlns:p14="http://schemas.microsoft.com/office/powerpoint/2010/main" val="1055369714"/>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C9A7BEC-8823-352F-BC49-31F4B875C19B}"/>
              </a:ext>
            </a:extLst>
          </p:cNvPr>
          <p:cNvSpPr>
            <a:spLocks noGrp="1"/>
          </p:cNvSpPr>
          <p:nvPr>
            <p:ph type="title"/>
          </p:nvPr>
        </p:nvSpPr>
        <p:spPr/>
        <p:txBody>
          <a:bodyPr/>
          <a:lstStyle/>
          <a:p>
            <a:r>
              <a:rPr lang="en-US"/>
              <a:t>VI. </a:t>
            </a:r>
            <a:r>
              <a:rPr lang="vi-VN"/>
              <a:t>Kết luận</a:t>
            </a:r>
          </a:p>
        </p:txBody>
      </p:sp>
      <p:sp>
        <p:nvSpPr>
          <p:cNvPr id="9" name="Text Placeholder 8">
            <a:extLst>
              <a:ext uri="{FF2B5EF4-FFF2-40B4-BE49-F238E27FC236}">
                <a16:creationId xmlns:a16="http://schemas.microsoft.com/office/drawing/2014/main" id="{6B07B47D-5896-250D-8E0E-BA447DBD1D22}"/>
              </a:ext>
            </a:extLst>
          </p:cNvPr>
          <p:cNvSpPr>
            <a:spLocks noGrp="1"/>
          </p:cNvSpPr>
          <p:nvPr>
            <p:ph type="body" idx="1"/>
          </p:nvPr>
        </p:nvSpPr>
        <p:spPr/>
        <p:txBody>
          <a:bodyPr/>
          <a:lstStyle/>
          <a:p>
            <a:endParaRPr lang="vi-VN"/>
          </a:p>
        </p:txBody>
      </p:sp>
      <p:sp>
        <p:nvSpPr>
          <p:cNvPr id="5" name="Slide Number Placeholder 4">
            <a:extLst>
              <a:ext uri="{FF2B5EF4-FFF2-40B4-BE49-F238E27FC236}">
                <a16:creationId xmlns:a16="http://schemas.microsoft.com/office/drawing/2014/main" id="{DC27D589-C262-774F-37DD-B967C2B265E1}"/>
              </a:ext>
            </a:extLst>
          </p:cNvPr>
          <p:cNvSpPr>
            <a:spLocks noGrp="1"/>
          </p:cNvSpPr>
          <p:nvPr>
            <p:ph type="sldNum" sz="quarter" idx="12"/>
          </p:nvPr>
        </p:nvSpPr>
        <p:spPr/>
        <p:txBody>
          <a:bodyPr/>
          <a:lstStyle/>
          <a:p>
            <a:fld id="{CBF310FD-C090-4C3A-AF23-E809F51E0484}" type="slidenum">
              <a:rPr lang="vi-VN" smtClean="0"/>
              <a:t>32</a:t>
            </a:fld>
            <a:endParaRPr lang="vi-VN"/>
          </a:p>
        </p:txBody>
      </p:sp>
    </p:spTree>
    <p:extLst>
      <p:ext uri="{BB962C8B-B14F-4D97-AF65-F5344CB8AC3E}">
        <p14:creationId xmlns:p14="http://schemas.microsoft.com/office/powerpoint/2010/main" val="1561783422"/>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D7B87AA-236F-9D5E-3CBA-E3AD7EAA908C}"/>
              </a:ext>
            </a:extLst>
          </p:cNvPr>
          <p:cNvSpPr>
            <a:spLocks noGrp="1"/>
          </p:cNvSpPr>
          <p:nvPr>
            <p:ph type="title"/>
          </p:nvPr>
        </p:nvSpPr>
        <p:spPr/>
        <p:txBody>
          <a:bodyPr/>
          <a:lstStyle/>
          <a:p>
            <a:r>
              <a:rPr lang="vi-VN"/>
              <a:t>VI. Kết luận</a:t>
            </a:r>
          </a:p>
        </p:txBody>
      </p:sp>
      <p:sp>
        <p:nvSpPr>
          <p:cNvPr id="6" name="Content Placeholder 5">
            <a:extLst>
              <a:ext uri="{FF2B5EF4-FFF2-40B4-BE49-F238E27FC236}">
                <a16:creationId xmlns:a16="http://schemas.microsoft.com/office/drawing/2014/main" id="{E637CC81-69A9-F595-7021-F2EDF11A4324}"/>
              </a:ext>
            </a:extLst>
          </p:cNvPr>
          <p:cNvSpPr>
            <a:spLocks noGrp="1"/>
          </p:cNvSpPr>
          <p:nvPr>
            <p:ph idx="1"/>
          </p:nvPr>
        </p:nvSpPr>
        <p:spPr/>
        <p:txBody>
          <a:bodyPr/>
          <a:lstStyle/>
          <a:p>
            <a:r>
              <a:rPr lang="vi-VN" b="1"/>
              <a:t>Mục tiêu đã đạt được</a:t>
            </a:r>
            <a:r>
              <a:rPr lang="vi-VN"/>
              <a:t>:</a:t>
            </a:r>
          </a:p>
          <a:p>
            <a:pPr lvl="1"/>
            <a:r>
              <a:rPr lang="vi-VN"/>
              <a:t>Xây dựng thành công </a:t>
            </a:r>
            <a:r>
              <a:rPr lang="vi-VN" b="1">
                <a:solidFill>
                  <a:schemeClr val="accent4">
                    <a:lumMod val="75000"/>
                  </a:schemeClr>
                </a:solidFill>
              </a:rPr>
              <a:t>SVD</a:t>
            </a:r>
            <a:r>
              <a:rPr lang="vi-VN"/>
              <a:t> song song</a:t>
            </a:r>
          </a:p>
          <a:p>
            <a:pPr lvl="1"/>
            <a:r>
              <a:rPr lang="vi-VN"/>
              <a:t>So sánh giữa phiên bản tuần tự và song song</a:t>
            </a:r>
          </a:p>
          <a:p>
            <a:pPr lvl="1"/>
            <a:r>
              <a:rPr lang="vi-VN"/>
              <a:t>Ứng dụng thực tế</a:t>
            </a:r>
          </a:p>
          <a:p>
            <a:pPr lvl="1"/>
            <a:endParaRPr lang="vi-VN"/>
          </a:p>
          <a:p>
            <a:endParaRPr lang="vi-VN"/>
          </a:p>
        </p:txBody>
      </p:sp>
      <p:sp>
        <p:nvSpPr>
          <p:cNvPr id="4" name="Slide Number Placeholder 3">
            <a:extLst>
              <a:ext uri="{FF2B5EF4-FFF2-40B4-BE49-F238E27FC236}">
                <a16:creationId xmlns:a16="http://schemas.microsoft.com/office/drawing/2014/main" id="{BE2D71B3-CF27-A33E-C664-9417B01AA491}"/>
              </a:ext>
            </a:extLst>
          </p:cNvPr>
          <p:cNvSpPr>
            <a:spLocks noGrp="1"/>
          </p:cNvSpPr>
          <p:nvPr>
            <p:ph type="sldNum" sz="quarter" idx="12"/>
          </p:nvPr>
        </p:nvSpPr>
        <p:spPr/>
        <p:txBody>
          <a:bodyPr/>
          <a:lstStyle/>
          <a:p>
            <a:fld id="{CBF310FD-C090-4C3A-AF23-E809F51E0484}" type="slidenum">
              <a:rPr lang="vi-VN" smtClean="0"/>
              <a:t>33</a:t>
            </a:fld>
            <a:endParaRPr lang="vi-VN"/>
          </a:p>
        </p:txBody>
      </p:sp>
    </p:spTree>
    <p:extLst>
      <p:ext uri="{BB962C8B-B14F-4D97-AF65-F5344CB8AC3E}">
        <p14:creationId xmlns:p14="http://schemas.microsoft.com/office/powerpoint/2010/main" val="2708940957"/>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9C79B-54A2-82A8-094E-5B817E92715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2FF6D9B-947A-1728-D631-7EC0E17B6774}"/>
              </a:ext>
            </a:extLst>
          </p:cNvPr>
          <p:cNvSpPr>
            <a:spLocks noGrp="1"/>
          </p:cNvSpPr>
          <p:nvPr>
            <p:ph type="title"/>
          </p:nvPr>
        </p:nvSpPr>
        <p:spPr/>
        <p:txBody>
          <a:bodyPr/>
          <a:lstStyle/>
          <a:p>
            <a:r>
              <a:rPr lang="vi-VN"/>
              <a:t>VI. Kết luận</a:t>
            </a:r>
          </a:p>
        </p:txBody>
      </p:sp>
      <p:sp>
        <p:nvSpPr>
          <p:cNvPr id="6" name="Content Placeholder 5">
            <a:extLst>
              <a:ext uri="{FF2B5EF4-FFF2-40B4-BE49-F238E27FC236}">
                <a16:creationId xmlns:a16="http://schemas.microsoft.com/office/drawing/2014/main" id="{E585F028-82C5-0A93-FC1A-094D542B4B4F}"/>
              </a:ext>
            </a:extLst>
          </p:cNvPr>
          <p:cNvSpPr>
            <a:spLocks noGrp="1"/>
          </p:cNvSpPr>
          <p:nvPr>
            <p:ph idx="1"/>
          </p:nvPr>
        </p:nvSpPr>
        <p:spPr/>
        <p:txBody>
          <a:bodyPr/>
          <a:lstStyle/>
          <a:p>
            <a:r>
              <a:rPr lang="vi-VN" b="1"/>
              <a:t>Hạn chế</a:t>
            </a:r>
            <a:r>
              <a:rPr lang="vi-VN"/>
              <a:t>:</a:t>
            </a:r>
          </a:p>
          <a:p>
            <a:pPr lvl="1"/>
            <a:r>
              <a:rPr lang="vi-VN"/>
              <a:t>Khả năng mở rộng</a:t>
            </a:r>
          </a:p>
          <a:p>
            <a:pPr lvl="1"/>
            <a:r>
              <a:rPr lang="vi-VN"/>
              <a:t>Hiệu năng thấp trên dữ liệu nhỏ</a:t>
            </a:r>
          </a:p>
          <a:p>
            <a:pPr lvl="1"/>
            <a:r>
              <a:rPr lang="vi-VN"/>
              <a:t>Chưa bằng các thư viện chuẩn</a:t>
            </a:r>
          </a:p>
          <a:p>
            <a:endParaRPr lang="vi-VN"/>
          </a:p>
        </p:txBody>
      </p:sp>
      <p:sp>
        <p:nvSpPr>
          <p:cNvPr id="4" name="Slide Number Placeholder 3">
            <a:extLst>
              <a:ext uri="{FF2B5EF4-FFF2-40B4-BE49-F238E27FC236}">
                <a16:creationId xmlns:a16="http://schemas.microsoft.com/office/drawing/2014/main" id="{99797F24-BA31-5960-321D-1F04F9D00BC7}"/>
              </a:ext>
            </a:extLst>
          </p:cNvPr>
          <p:cNvSpPr>
            <a:spLocks noGrp="1"/>
          </p:cNvSpPr>
          <p:nvPr>
            <p:ph type="sldNum" sz="quarter" idx="12"/>
          </p:nvPr>
        </p:nvSpPr>
        <p:spPr/>
        <p:txBody>
          <a:bodyPr/>
          <a:lstStyle/>
          <a:p>
            <a:fld id="{CBF310FD-C090-4C3A-AF23-E809F51E0484}" type="slidenum">
              <a:rPr lang="vi-VN" smtClean="0"/>
              <a:t>34</a:t>
            </a:fld>
            <a:endParaRPr lang="vi-VN"/>
          </a:p>
        </p:txBody>
      </p:sp>
    </p:spTree>
    <p:extLst>
      <p:ext uri="{BB962C8B-B14F-4D97-AF65-F5344CB8AC3E}">
        <p14:creationId xmlns:p14="http://schemas.microsoft.com/office/powerpoint/2010/main" val="2691773766"/>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91810-1DC1-CDA4-9855-25AA9A00A34E}"/>
              </a:ext>
            </a:extLst>
          </p:cNvPr>
          <p:cNvSpPr>
            <a:spLocks noGrp="1"/>
          </p:cNvSpPr>
          <p:nvPr>
            <p:ph type="title"/>
          </p:nvPr>
        </p:nvSpPr>
        <p:spPr/>
        <p:txBody>
          <a:bodyPr/>
          <a:lstStyle/>
          <a:p>
            <a:r>
              <a:rPr lang="vi-VN"/>
              <a:t>VI. Kết luận</a:t>
            </a:r>
          </a:p>
        </p:txBody>
      </p:sp>
      <p:sp>
        <p:nvSpPr>
          <p:cNvPr id="3" name="Content Placeholder 2">
            <a:extLst>
              <a:ext uri="{FF2B5EF4-FFF2-40B4-BE49-F238E27FC236}">
                <a16:creationId xmlns:a16="http://schemas.microsoft.com/office/drawing/2014/main" id="{07FB49BA-DEA0-F276-8CE4-1D13A4722A4A}"/>
              </a:ext>
            </a:extLst>
          </p:cNvPr>
          <p:cNvSpPr>
            <a:spLocks noGrp="1"/>
          </p:cNvSpPr>
          <p:nvPr>
            <p:ph idx="1"/>
          </p:nvPr>
        </p:nvSpPr>
        <p:spPr/>
        <p:txBody>
          <a:bodyPr/>
          <a:lstStyle/>
          <a:p>
            <a:r>
              <a:rPr lang="vi-VN" b="1"/>
              <a:t>Hướng phát triển</a:t>
            </a:r>
            <a:r>
              <a:rPr lang="vi-VN"/>
              <a:t>:</a:t>
            </a:r>
          </a:p>
          <a:p>
            <a:pPr lvl="1"/>
            <a:r>
              <a:rPr lang="vi-VN"/>
              <a:t>Tối ưu hóa bộ nhớ</a:t>
            </a:r>
          </a:p>
          <a:p>
            <a:pPr lvl="1"/>
            <a:r>
              <a:rPr lang="vi-VN"/>
              <a:t>Kết hợp linh hoạt giữa tuần tự và song song</a:t>
            </a:r>
          </a:p>
          <a:p>
            <a:pPr lvl="1"/>
            <a:r>
              <a:rPr lang="vi-VN"/>
              <a:t>Mở rộng sang GPU</a:t>
            </a:r>
          </a:p>
        </p:txBody>
      </p:sp>
      <p:sp>
        <p:nvSpPr>
          <p:cNvPr id="4" name="Slide Number Placeholder 3">
            <a:extLst>
              <a:ext uri="{FF2B5EF4-FFF2-40B4-BE49-F238E27FC236}">
                <a16:creationId xmlns:a16="http://schemas.microsoft.com/office/drawing/2014/main" id="{C3F70B42-6AFF-A732-4365-ABEF94A4A24D}"/>
              </a:ext>
            </a:extLst>
          </p:cNvPr>
          <p:cNvSpPr>
            <a:spLocks noGrp="1"/>
          </p:cNvSpPr>
          <p:nvPr>
            <p:ph type="sldNum" sz="quarter" idx="12"/>
          </p:nvPr>
        </p:nvSpPr>
        <p:spPr/>
        <p:txBody>
          <a:bodyPr/>
          <a:lstStyle/>
          <a:p>
            <a:fld id="{CBF310FD-C090-4C3A-AF23-E809F51E0484}" type="slidenum">
              <a:rPr lang="vi-VN" smtClean="0"/>
              <a:t>35</a:t>
            </a:fld>
            <a:endParaRPr lang="vi-VN"/>
          </a:p>
        </p:txBody>
      </p:sp>
    </p:spTree>
    <p:extLst>
      <p:ext uri="{BB962C8B-B14F-4D97-AF65-F5344CB8AC3E}">
        <p14:creationId xmlns:p14="http://schemas.microsoft.com/office/powerpoint/2010/main" val="3121954724"/>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A8E3608-B069-7F8D-05A3-F90B93050245}"/>
              </a:ext>
            </a:extLst>
          </p:cNvPr>
          <p:cNvSpPr>
            <a:spLocks noGrp="1"/>
          </p:cNvSpPr>
          <p:nvPr>
            <p:ph type="title"/>
          </p:nvPr>
        </p:nvSpPr>
        <p:spPr/>
        <p:txBody>
          <a:bodyPr/>
          <a:lstStyle/>
          <a:p>
            <a:r>
              <a:rPr lang="vi-VN"/>
              <a:t>Cảm ơn vì đã lắng nghe</a:t>
            </a:r>
          </a:p>
        </p:txBody>
      </p:sp>
      <p:sp>
        <p:nvSpPr>
          <p:cNvPr id="7" name="Text Placeholder 6">
            <a:extLst>
              <a:ext uri="{FF2B5EF4-FFF2-40B4-BE49-F238E27FC236}">
                <a16:creationId xmlns:a16="http://schemas.microsoft.com/office/drawing/2014/main" id="{4AD87D51-876C-5DAF-A3A7-2C83687D94B8}"/>
              </a:ext>
            </a:extLst>
          </p:cNvPr>
          <p:cNvSpPr>
            <a:spLocks noGrp="1"/>
          </p:cNvSpPr>
          <p:nvPr>
            <p:ph type="body" idx="1"/>
          </p:nvPr>
        </p:nvSpPr>
        <p:spPr/>
        <p:txBody>
          <a:bodyPr/>
          <a:lstStyle/>
          <a:p>
            <a:endParaRPr lang="vi-VN"/>
          </a:p>
        </p:txBody>
      </p:sp>
      <p:sp>
        <p:nvSpPr>
          <p:cNvPr id="5" name="Slide Number Placeholder 4">
            <a:extLst>
              <a:ext uri="{FF2B5EF4-FFF2-40B4-BE49-F238E27FC236}">
                <a16:creationId xmlns:a16="http://schemas.microsoft.com/office/drawing/2014/main" id="{357B2602-694A-1AF8-F0C2-888D9E06C164}"/>
              </a:ext>
            </a:extLst>
          </p:cNvPr>
          <p:cNvSpPr>
            <a:spLocks noGrp="1"/>
          </p:cNvSpPr>
          <p:nvPr>
            <p:ph type="sldNum" sz="quarter" idx="12"/>
          </p:nvPr>
        </p:nvSpPr>
        <p:spPr/>
        <p:txBody>
          <a:bodyPr/>
          <a:lstStyle/>
          <a:p>
            <a:fld id="{CBF310FD-C090-4C3A-AF23-E809F51E0484}" type="slidenum">
              <a:rPr lang="vi-VN" smtClean="0"/>
              <a:t>36</a:t>
            </a:fld>
            <a:endParaRPr lang="vi-VN"/>
          </a:p>
        </p:txBody>
      </p:sp>
    </p:spTree>
    <p:extLst>
      <p:ext uri="{BB962C8B-B14F-4D97-AF65-F5344CB8AC3E}">
        <p14:creationId xmlns:p14="http://schemas.microsoft.com/office/powerpoint/2010/main" val="2857500729"/>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785</TotalTime>
  <Words>1206</Words>
  <Application>Microsoft Office PowerPoint</Application>
  <PresentationFormat>Widescreen</PresentationFormat>
  <Paragraphs>187</Paragraphs>
  <Slides>36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Aptos</vt:lpstr>
      <vt:lpstr>Arial</vt:lpstr>
      <vt:lpstr>Cambria Math</vt:lpstr>
      <vt:lpstr>Times New Roman</vt:lpstr>
      <vt:lpstr>Office Theme</vt:lpstr>
      <vt:lpstr>Song song hóa thuật toán giảm chiều dữ liệu với Singular Value Decomposition</vt:lpstr>
      <vt:lpstr>Nội dung</vt:lpstr>
      <vt:lpstr>I. Giới thiệu bài toán</vt:lpstr>
      <vt:lpstr>I. Giới thiệu bài toán</vt:lpstr>
      <vt:lpstr>I. Giới thiệu bài toán</vt:lpstr>
      <vt:lpstr>I. Giới thiệu bài toán</vt:lpstr>
      <vt:lpstr>I. Giới thiệu bài toán</vt:lpstr>
      <vt:lpstr>II. Cơ sở lý thuyết</vt:lpstr>
      <vt:lpstr>II. Cơ sở lý thuyết</vt:lpstr>
      <vt:lpstr>II. Cơ sở lý thuyết</vt:lpstr>
      <vt:lpstr>II. Cơ sở lý thuyết</vt:lpstr>
      <vt:lpstr>II. Cơ sở lý thuyết</vt:lpstr>
      <vt:lpstr>II. Cơ sở lý thuyết</vt:lpstr>
      <vt:lpstr>III. Phương pháp­ song song hóa</vt:lpstr>
      <vt:lpstr>III. Phương pháp song song hóa</vt:lpstr>
      <vt:lpstr>III. Phương pháp song song hóa</vt:lpstr>
      <vt:lpstr>III. Phương pháp song song hóa</vt:lpstr>
      <vt:lpstr>III. Phương pháp song song hóa</vt:lpstr>
      <vt:lpstr>IV. Thực nghiệm và đánh giá</vt:lpstr>
      <vt:lpstr>IV. Thực nghiệm và đánh giá</vt:lpstr>
      <vt:lpstr>IV. Thực nghiệm và đánh giá</vt:lpstr>
      <vt:lpstr>IV. Thực nghiệm và đánh giá</vt:lpstr>
      <vt:lpstr>IV. Thực nghiệm và đánh giá</vt:lpstr>
      <vt:lpstr>IV. Thực nghiệm và đánh giá</vt:lpstr>
      <vt:lpstr>IV. Thực nghiệm và đánh giá</vt:lpstr>
      <vt:lpstr>IV. Thực nghiệm và đánh giá</vt:lpstr>
      <vt:lpstr>IV. Thực nghiệm và đánh giá</vt:lpstr>
      <vt:lpstr>IV. Thực nghiệm và đánh giá</vt:lpstr>
      <vt:lpstr>V. Mở rộng</vt:lpstr>
      <vt:lpstr>V. Mở rộng</vt:lpstr>
      <vt:lpstr>V. Mở rộng</vt:lpstr>
      <vt:lpstr>VI. Kết luận</vt:lpstr>
      <vt:lpstr>VI. Kết luận</vt:lpstr>
      <vt:lpstr>VI. Kết luận</vt:lpstr>
      <vt:lpstr>VI. Kết luận</vt:lpstr>
      <vt:lpstr>Cảm ơn vì đã lắng nghe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Dang Hung</dc:creator>
  <cp:lastModifiedBy>Dang Hung</cp:lastModifiedBy>
  <cp:revision>6</cp:revision>
  <dcterms:created xsi:type="dcterms:W3CDTF">2025-12-08T01:22:20Z</dcterms:created>
  <dcterms:modified xsi:type="dcterms:W3CDTF">2025-12-09T07:35:44Z</dcterms:modified>
</cp:coreProperties>
</file>